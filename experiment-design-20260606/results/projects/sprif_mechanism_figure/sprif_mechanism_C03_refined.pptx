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7145000" cy="609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7145000" cy="609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3333750" y="285750"/>
            <a:ext cx="9525" cy="5524500"/>
          </a:xfrm>
          <a:custGeom>
            <a:avLst/>
            <a:gdLst/>
            <a:ahLst/>
            <a:cxnLst/>
            <a:rect l="l" t="t" r="r" b="b"/>
            <a:pathLst>
              <a:path w="9525" h="5524500">
                <a:moveTo>
                  <a:pt x="0" y="0"/>
                </a:moveTo>
                <a:lnTo>
                  <a:pt x="0" y="5524500"/>
                </a:lnTo>
              </a:path>
            </a:pathLst>
          </a:custGeom>
          <a:noFill/>
          <a:ln w="7620">
            <a:solidFill>
              <a:srgbClr val="D8D8D8"/>
            </a:solidFill>
            <a:custDash>
              <a:ds d="250000" sp="375000"/>
            </a:custDash>
          </a:ln>
        </p:spPr>
      </p:sp>
      <p:sp>
        <p:nvSpPr>
          <p:cNvPr id="4" name="Line 4"/>
          <p:cNvSpPr/>
          <p:nvPr/>
        </p:nvSpPr>
        <p:spPr>
          <a:xfrm>
            <a:off x="13430250" y="285750"/>
            <a:ext cx="9525" cy="5524500"/>
          </a:xfrm>
          <a:custGeom>
            <a:avLst/>
            <a:gdLst/>
            <a:ahLst/>
            <a:cxnLst/>
            <a:rect l="l" t="t" r="r" b="b"/>
            <a:pathLst>
              <a:path w="9525" h="5524500">
                <a:moveTo>
                  <a:pt x="0" y="0"/>
                </a:moveTo>
                <a:lnTo>
                  <a:pt x="0" y="5524500"/>
                </a:lnTo>
              </a:path>
            </a:pathLst>
          </a:custGeom>
          <a:noFill/>
          <a:ln w="7620">
            <a:solidFill>
              <a:srgbClr val="D8D8D8"/>
            </a:solidFill>
            <a:custDash>
              <a:ds d="250000" sp="375000"/>
            </a:custDash>
          </a:ln>
        </p:spPr>
      </p:sp>
      <p:grpSp>
        <p:nvGrpSpPr>
          <p:cNvPr id="30" name="Group 30"/>
          <p:cNvGrpSpPr/>
          <p:nvPr/>
        </p:nvGrpSpPr>
        <p:grpSpPr>
          <a:xfrm>
            <a:off x="53695" y="346710"/>
            <a:ext cx="3321610" cy="4892040"/>
            <a:chOff x="53695" y="346710"/>
            <a:chExt cx="3321610" cy="4892040"/>
          </a:xfrm>
        </p:grpSpPr>
        <p:sp>
          <p:nvSpPr>
            <p:cNvPr id="5" name="TextBox 5"/>
            <p:cNvSpPr txBox="1"/>
            <p:nvPr/>
          </p:nvSpPr>
          <p:spPr>
            <a:xfrm>
              <a:off x="678549" y="346710"/>
              <a:ext cx="20719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000000"/>
                  </a:solidFill>
                  <a:latin typeface="Segoe UI"/>
                  <a:ea typeface="Segoe UI"/>
                  <a:cs typeface="Segoe UI"/>
                </a:rPr>
                <a:t>(a) Membrane-centric LIF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285750" y="666750"/>
              <a:ext cx="2857500" cy="4572000"/>
            </a:xfrm>
            <a:prstGeom prst="roundRect">
              <a:avLst>
                <a:gd name="adj" fmla="val 2667"/>
              </a:avLst>
            </a:prstGeom>
            <a:solidFill>
              <a:srgbClr val="F2F4F7">
                <a:alpha val="55000"/>
              </a:srgbClr>
            </a:solidFill>
            <a:ln w="9525">
              <a:solidFill>
                <a:srgbClr val="9AA4B0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84454" y="1156335"/>
              <a:ext cx="11912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000000"/>
                  </a:solidFill>
                  <a:latin typeface="Segoe UI"/>
                  <a:ea typeface="Segoe UI"/>
                  <a:cs typeface="Segoe UI"/>
                </a:rPr>
                <a:t>I</a:t>
              </a:r>
              <a:r>
                <a:rPr lang="en-US" sz="750" dirty="0">
                  <a:solidFill>
                    <a:srgbClr val="000000"/>
                  </a:solidFill>
                  <a:latin typeface="Segoe UI"/>
                  <a:ea typeface="Segoe UI"/>
                  <a:cs typeface="Segoe UI"/>
                </a:rPr>
                <a:t>t</a:t>
              </a:r>
            </a:p>
          </p:txBody>
        </p:sp>
        <p:sp>
          <p:nvSpPr>
            <p:cNvPr id="8" name="Ellipse 8"/>
            <p:cNvSpPr/>
            <p:nvPr/>
          </p:nvSpPr>
          <p:spPr>
            <a:xfrm>
              <a:off x="528638" y="1328738"/>
              <a:ext cx="47625" cy="47625"/>
            </a:xfrm>
            <a:prstGeom prst="ellipse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27304" y="1661160"/>
              <a:ext cx="4049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000000"/>
                  </a:solidFill>
                  <a:latin typeface="Segoe UI"/>
                  <a:ea typeface="Segoe UI"/>
                  <a:cs typeface="Segoe UI"/>
                </a:rPr>
                <a:t>β v</a:t>
              </a:r>
              <a:r>
                <a:rPr lang="en-US" sz="750" dirty="0">
                  <a:solidFill>
                    <a:srgbClr val="000000"/>
                  </a:solidFill>
                  <a:latin typeface="Segoe UI"/>
                  <a:ea typeface="Segoe UI"/>
                  <a:cs typeface="Segoe UI"/>
                </a:rPr>
                <a:t>t−1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28638" y="1833562"/>
              <a:ext cx="47625" cy="47625"/>
            </a:xfrm>
            <a:prstGeom prst="ellipse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11" name="Line 11"/>
            <p:cNvSpPr/>
            <p:nvPr/>
          </p:nvSpPr>
          <p:spPr>
            <a:xfrm>
              <a:off x="647700" y="1362075"/>
              <a:ext cx="304800" cy="228600"/>
            </a:xfrm>
            <a:prstGeom prst="line">
              <a:avLst/>
            </a:prstGeom>
            <a:noFill/>
            <a:ln w="10478">
              <a:solidFill>
                <a:srgbClr val="1A1A1A"/>
              </a:solidFill>
              <a:tailEnd type="triangle" w="lg" len="lg"/>
            </a:ln>
          </p:spPr>
        </p:sp>
        <p:sp>
          <p:nvSpPr>
            <p:cNvPr id="12" name="Line 12"/>
            <p:cNvSpPr/>
            <p:nvPr/>
          </p:nvSpPr>
          <p:spPr>
            <a:xfrm flipV="1">
              <a:off x="685800" y="1666875"/>
              <a:ext cx="266700" cy="180975"/>
            </a:xfrm>
            <a:prstGeom prst="line">
              <a:avLst/>
            </a:prstGeom>
            <a:noFill/>
            <a:ln w="10478">
              <a:solidFill>
                <a:srgbClr val="1A1A1A"/>
              </a:solidFill>
              <a:tailEnd type="triangle" w="lg" len="lg"/>
            </a:ln>
          </p:spPr>
        </p:sp>
        <p:sp>
          <p:nvSpPr>
            <p:cNvPr id="13" name="Ellipse 13"/>
            <p:cNvSpPr/>
            <p:nvPr/>
          </p:nvSpPr>
          <p:spPr>
            <a:xfrm>
              <a:off x="990600" y="1466850"/>
              <a:ext cx="304800" cy="304800"/>
            </a:xfrm>
            <a:prstGeom prst="ellipse">
              <a:avLst/>
            </a:prstGeom>
            <a:solidFill>
              <a:srgbClr val="FFFFFF"/>
            </a:solidFill>
            <a:ln w="13335">
              <a:solidFill>
                <a:srgbClr val="1A1A1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93555" y="1545431"/>
              <a:ext cx="988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00000"/>
                  </a:solidFill>
                  <a:latin typeface="Segoe UI"/>
                  <a:ea typeface="Segoe UI"/>
                  <a:cs typeface="Segoe UI"/>
                </a:rPr>
                <a:t>+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1295400" y="1619250"/>
              <a:ext cx="466725" cy="1"/>
            </a:xfrm>
            <a:prstGeom prst="line">
              <a:avLst/>
            </a:prstGeom>
            <a:noFill/>
            <a:ln w="11430">
              <a:solidFill>
                <a:srgbClr val="1A1A1A"/>
              </a:solidFill>
              <a:tailEnd type="triangle" w="lg" len="lg"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851279" y="1451610"/>
              <a:ext cx="1565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000000"/>
                  </a:solidFill>
                  <a:latin typeface="Segoe UI"/>
                  <a:ea typeface="Segoe UI"/>
                  <a:cs typeface="Segoe UI"/>
                </a:rPr>
                <a:t>ṽ</a:t>
              </a:r>
              <a:r>
                <a:rPr lang="en-US" sz="750" dirty="0">
                  <a:solidFill>
                    <a:srgbClr val="000000"/>
                  </a:solidFill>
                  <a:latin typeface="Segoe UI"/>
                  <a:ea typeface="Segoe UI"/>
                  <a:cs typeface="Segoe UI"/>
                </a:rPr>
                <a:t>t</a:t>
              </a:r>
            </a:p>
          </p:txBody>
        </p:sp>
        <p:sp>
          <p:nvSpPr>
            <p:cNvPr id="17" name="Line 17"/>
            <p:cNvSpPr/>
            <p:nvPr/>
          </p:nvSpPr>
          <p:spPr>
            <a:xfrm flipH="1">
              <a:off x="1143000" y="1619250"/>
              <a:ext cx="1095375" cy="762000"/>
            </a:xfrm>
            <a:prstGeom prst="line">
              <a:avLst/>
            </a:prstGeom>
            <a:noFill/>
            <a:ln w="10478">
              <a:solidFill>
                <a:srgbClr val="1A1A1A"/>
              </a:solidFill>
              <a:tailEnd type="triangle" w="lg" len="lg"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498854" y="1946910"/>
              <a:ext cx="7018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000000"/>
                  </a:solidFill>
                  <a:latin typeface="Segoe UI"/>
                  <a:ea typeface="Segoe UI"/>
                  <a:cs typeface="Segoe UI"/>
                </a:rPr>
                <a:t>H(ṽ</a:t>
              </a:r>
              <a:r>
                <a:rPr lang="en-US" sz="680" dirty="0">
                  <a:solidFill>
                    <a:srgbClr val="000000"/>
                  </a:solidFill>
                  <a:latin typeface="Segoe UI"/>
                  <a:ea typeface="Segoe UI"/>
                  <a:cs typeface="Segoe UI"/>
                </a:rPr>
                <a:t>t</a:t>
              </a:r>
              <a:r>
                <a:rPr lang="en-US" sz="1200" dirty="0">
                  <a:solidFill>
                    <a:srgbClr val="000000"/>
                  </a:solidFill>
                  <a:latin typeface="Segoe UI"/>
                  <a:ea typeface="Segoe UI"/>
                  <a:cs typeface="Segoe UI"/>
                </a:rPr>
                <a:t xml:space="preserve"> − θ)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990600" y="2371725"/>
              <a:ext cx="304800" cy="304800"/>
            </a:xfrm>
            <a:prstGeom prst="ellipse">
              <a:avLst/>
            </a:prstGeom>
            <a:solidFill>
              <a:srgbClr val="FFFFFF"/>
            </a:solidFill>
            <a:ln w="13335">
              <a:solidFill>
                <a:srgbClr val="1A1A1A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98002" y="2466499"/>
              <a:ext cx="899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00000"/>
                  </a:solidFill>
                  <a:latin typeface="Segoe UI"/>
                  <a:ea typeface="Segoe UI"/>
                  <a:cs typeface="Segoe UI"/>
                </a:rPr>
                <a:t>H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1295400" y="2524125"/>
              <a:ext cx="561975" cy="1"/>
            </a:xfrm>
            <a:prstGeom prst="line">
              <a:avLst/>
            </a:prstGeom>
            <a:noFill/>
            <a:ln w="11430">
              <a:solidFill>
                <a:srgbClr val="1A1A1A"/>
              </a:solidFill>
              <a:tailEnd type="triangle" w="lg" len="lg"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946529" y="2442210"/>
              <a:ext cx="1565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000000"/>
                  </a:solidFill>
                  <a:latin typeface="Segoe UI"/>
                  <a:ea typeface="Segoe UI"/>
                  <a:cs typeface="Segoe UI"/>
                </a:rPr>
                <a:t>z</a:t>
              </a:r>
              <a:r>
                <a:rPr lang="en-US" sz="750" dirty="0">
                  <a:solidFill>
                    <a:srgbClr val="000000"/>
                  </a:solidFill>
                  <a:latin typeface="Segoe UI"/>
                  <a:ea typeface="Segoe UI"/>
                  <a:cs typeface="Segoe UI"/>
                </a:rPr>
                <a:t>t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1143000" y="1771650"/>
              <a:ext cx="762000" cy="1466850"/>
            </a:xfrm>
            <a:custGeom>
              <a:avLst/>
              <a:gdLst/>
              <a:ahLst/>
              <a:cxnLst/>
              <a:rect l="l" t="t" r="r" b="b"/>
              <a:pathLst>
                <a:path w="762000" h="1466850">
                  <a:moveTo>
                    <a:pt x="762000" y="895350"/>
                  </a:moveTo>
                  <a:cubicBezTo>
                    <a:pt x="762000" y="1276350"/>
                    <a:pt x="571500" y="1466850"/>
                    <a:pt x="190500" y="1466850"/>
                  </a:cubicBezTo>
                  <a:cubicBezTo>
                    <a:pt x="63500" y="1466850"/>
                    <a:pt x="0" y="977900"/>
                    <a:pt x="0" y="0"/>
                  </a:cubicBezTo>
                </a:path>
              </a:pathLst>
            </a:custGeom>
            <a:noFill/>
            <a:ln w="12382">
              <a:solidFill>
                <a:srgbClr val="C63D32"/>
              </a:solidFill>
              <a:custDash>
                <a:ds d="307692" sp="230769"/>
              </a:custDash>
              <a:tailEnd type="triangle" w="lg" len="lg"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660779" y="3032760"/>
              <a:ext cx="3827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i="1" dirty="0">
                  <a:solidFill>
                    <a:srgbClr val="000000"/>
                  </a:solidFill>
                  <a:latin typeface="Segoe UI"/>
                  <a:ea typeface="Segoe UI"/>
                  <a:cs typeface="Segoe UI"/>
                </a:rPr>
                <a:t>−θ z</a:t>
              </a:r>
              <a:r>
                <a:rPr lang="en-US" sz="750" i="1" dirty="0">
                  <a:solidFill>
                    <a:srgbClr val="000000"/>
                  </a:solidFill>
                  <a:latin typeface="Segoe UI"/>
                  <a:ea typeface="Segoe UI"/>
                  <a:cs typeface="Segoe UI"/>
                </a:rPr>
                <a:t>t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65902" y="3604260"/>
              <a:ext cx="9541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000000"/>
                  </a:solidFill>
                  <a:latin typeface="Segoe UI"/>
                  <a:ea typeface="Segoe UI"/>
                  <a:cs typeface="Segoe UI"/>
                </a:rPr>
                <a:t>v</a:t>
              </a:r>
              <a:r>
                <a:rPr lang="en-US" sz="750" dirty="0">
                  <a:solidFill>
                    <a:srgbClr val="000000"/>
                  </a:solidFill>
                  <a:latin typeface="Segoe UI"/>
                  <a:ea typeface="Segoe UI"/>
                  <a:cs typeface="Segoe UI"/>
                </a:rPr>
                <a:t>t</a:t>
              </a:r>
              <a:r>
                <a:rPr lang="en-US" sz="1200" dirty="0">
                  <a:solidFill>
                    <a:srgbClr val="000000"/>
                  </a:solidFill>
                  <a:latin typeface="Segoe UI"/>
                  <a:ea typeface="Segoe UI"/>
                  <a:cs typeface="Segoe UI"/>
                </a:rPr>
                <a:t xml:space="preserve"> = ṽ</a:t>
              </a:r>
              <a:r>
                <a:rPr lang="en-US" sz="750" dirty="0">
                  <a:solidFill>
                    <a:srgbClr val="000000"/>
                  </a:solidFill>
                  <a:latin typeface="Segoe UI"/>
                  <a:ea typeface="Segoe UI"/>
                  <a:cs typeface="Segoe UI"/>
                </a:rPr>
                <a:t>t</a:t>
              </a:r>
              <a:r>
                <a:rPr lang="en-US" sz="1200" dirty="0">
                  <a:solidFill>
                    <a:srgbClr val="000000"/>
                  </a:solidFill>
                  <a:latin typeface="Segoe UI"/>
                  <a:ea typeface="Segoe UI"/>
                  <a:cs typeface="Segoe UI"/>
                </a:rPr>
                <a:t xml:space="preserve"> − θ z</a:t>
              </a:r>
              <a:r>
                <a:rPr lang="en-US" sz="750" dirty="0">
                  <a:solidFill>
                    <a:srgbClr val="000000"/>
                  </a:solidFill>
                  <a:latin typeface="Segoe UI"/>
                  <a:ea typeface="Segoe UI"/>
                  <a:cs typeface="Segoe UI"/>
                </a:rPr>
                <a:t>t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476250" y="3981450"/>
              <a:ext cx="2476500" cy="342900"/>
            </a:xfrm>
            <a:prstGeom prst="roundRect">
              <a:avLst>
                <a:gd name="adj" fmla="val 11111"/>
              </a:avLst>
            </a:prstGeom>
            <a:solidFill>
              <a:srgbClr val="FFF6F4"/>
            </a:solidFill>
            <a:ln w="8572">
              <a:solidFill>
                <a:srgbClr val="C63D32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93915" y="4070985"/>
              <a:ext cx="12411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000000"/>
                  </a:solidFill>
                  <a:latin typeface="Segoe UI"/>
                  <a:ea typeface="Segoe UI"/>
                  <a:cs typeface="Segoe UI"/>
                </a:rPr>
                <a:t>Δv</a:t>
              </a:r>
              <a:r>
                <a:rPr lang="en-US" sz="680" dirty="0">
                  <a:solidFill>
                    <a:srgbClr val="000000"/>
                  </a:solidFill>
                  <a:latin typeface="Segoe UI"/>
                  <a:ea typeface="Segoe UI"/>
                  <a:cs typeface="Segoe UI"/>
                </a:rPr>
                <a:t>t</a:t>
              </a:r>
              <a:r>
                <a:rPr lang="en-US" sz="1200" i="1" dirty="0">
                  <a:solidFill>
                    <a:srgbClr val="000000"/>
                  </a:solidFill>
                  <a:latin typeface="Segoe UI"/>
                  <a:ea typeface="Segoe UI"/>
                  <a:cs typeface="Segoe UI"/>
                </a:rPr>
                <a:t>reset</a:t>
              </a:r>
              <a:r>
                <a:rPr lang="en-US" sz="1200" dirty="0">
                  <a:solidFill>
                    <a:srgbClr val="000000"/>
                  </a:solidFill>
                  <a:latin typeface="Segoe UI"/>
                  <a:ea typeface="Segoe UI"/>
                  <a:cs typeface="Segoe UI"/>
                </a:rPr>
                <a:t xml:space="preserve"> = −θ z</a:t>
              </a:r>
              <a:r>
                <a:rPr lang="en-US" sz="680" dirty="0">
                  <a:solidFill>
                    <a:srgbClr val="000000"/>
                  </a:solidFill>
                  <a:latin typeface="Segoe UI"/>
                  <a:ea typeface="Segoe UI"/>
                  <a:cs typeface="Segoe UI"/>
                </a:rPr>
                <a:t>t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3695" y="4632960"/>
              <a:ext cx="33216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000000"/>
                  </a:solidFill>
                  <a:latin typeface="Segoe UI"/>
                  <a:ea typeface="Segoe UI"/>
                  <a:cs typeface="Segoe UI"/>
                </a:rPr>
                <a:t>One state integrates, fires, and resets.</a:t>
              </a:r>
            </a:p>
          </p:txBody>
        </p:sp>
        <p:sp>
          <p:nvSpPr>
            <p:cNvPr id="29" name="Freeform 29"/>
            <p:cNvSpPr/>
            <p:nvPr/>
          </p:nvSpPr>
          <p:spPr>
            <a:xfrm>
              <a:off x="428625" y="4937125"/>
              <a:ext cx="2571750" cy="127000"/>
            </a:xfrm>
            <a:custGeom>
              <a:avLst/>
              <a:gdLst/>
              <a:ahLst/>
              <a:cxnLst/>
              <a:rect l="l" t="t" r="r" b="b"/>
              <a:pathLst>
                <a:path w="2571750" h="127000">
                  <a:moveTo>
                    <a:pt x="0" y="63500"/>
                  </a:moveTo>
                  <a:cubicBezTo>
                    <a:pt x="285750" y="0"/>
                    <a:pt x="571500" y="0"/>
                    <a:pt x="857250" y="63500"/>
                  </a:cubicBezTo>
                  <a:cubicBezTo>
                    <a:pt x="1143000" y="127000"/>
                    <a:pt x="1428750" y="127000"/>
                    <a:pt x="1714500" y="63500"/>
                  </a:cubicBezTo>
                  <a:cubicBezTo>
                    <a:pt x="2000250" y="0"/>
                    <a:pt x="2286000" y="0"/>
                    <a:pt x="2571750" y="63500"/>
                  </a:cubicBezTo>
                </a:path>
              </a:pathLst>
            </a:custGeom>
            <a:noFill/>
            <a:ln w="6668">
              <a:solidFill>
                <a:srgbClr val="9AA4B0">
                  <a:alpha val="60000"/>
                </a:srgbClr>
              </a:solidFill>
              <a:custDash>
                <a:ds d="214285" sp="357142"/>
              </a:custDash>
            </a:ln>
          </p:spPr>
        </p:sp>
      </p:grpSp>
      <p:grpSp>
        <p:nvGrpSpPr>
          <p:cNvPr id="211" name="Group 211"/>
          <p:cNvGrpSpPr/>
          <p:nvPr/>
        </p:nvGrpSpPr>
        <p:grpSpPr>
          <a:xfrm>
            <a:off x="3225394" y="346710"/>
            <a:ext cx="11375463" cy="4796790"/>
            <a:chOff x="3225394" y="346710"/>
            <a:chExt cx="11375463" cy="4796790"/>
          </a:xfrm>
        </p:grpSpPr>
        <p:sp>
          <p:nvSpPr>
            <p:cNvPr id="31" name="TextBox 31"/>
            <p:cNvSpPr txBox="1"/>
            <p:nvPr/>
          </p:nvSpPr>
          <p:spPr>
            <a:xfrm>
              <a:off x="6709051" y="346710"/>
              <a:ext cx="33458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000000"/>
                  </a:solidFill>
                  <a:latin typeface="Segoe UI"/>
                  <a:ea typeface="Segoe UI"/>
                  <a:cs typeface="Segoe UI"/>
                </a:rPr>
                <a:t>(b) SPRiF: functional state decomposition</a:t>
              </a:r>
            </a:p>
          </p:txBody>
        </p:sp>
        <p:grpSp>
          <p:nvGrpSpPr>
            <p:cNvPr id="55" name="Group 55"/>
            <p:cNvGrpSpPr/>
            <p:nvPr/>
          </p:nvGrpSpPr>
          <p:grpSpPr>
            <a:xfrm>
              <a:off x="3810000" y="647700"/>
              <a:ext cx="10354933" cy="581406"/>
              <a:chOff x="3810000" y="647700"/>
              <a:chExt cx="10354933" cy="581406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3810000" y="647700"/>
                <a:ext cx="9144000" cy="381000"/>
              </a:xfrm>
              <a:prstGeom prst="roundRect">
                <a:avLst>
                  <a:gd name="adj" fmla="val 15000"/>
                </a:avLst>
              </a:prstGeom>
              <a:solidFill>
                <a:srgbClr val="FAFBFC"/>
              </a:solidFill>
              <a:ln w="7620">
                <a:solidFill>
                  <a:srgbClr val="C8CCD1"/>
                </a:solidFill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3994404" y="670560"/>
                <a:ext cx="169225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>top computation flow</a:t>
                </a:r>
              </a:p>
            </p:txBody>
          </p:sp>
          <p:sp>
            <p:nvSpPr>
              <p:cNvPr id="34" name="Ellipse 34"/>
              <p:cNvSpPr/>
              <p:nvPr/>
            </p:nvSpPr>
            <p:spPr>
              <a:xfrm>
                <a:off x="4352925" y="809625"/>
                <a:ext cx="247650" cy="247650"/>
              </a:xfrm>
              <a:prstGeom prst="ellipse">
                <a:avLst/>
              </a:prstGeom>
              <a:solidFill>
                <a:srgbClr val="FFFFFF"/>
              </a:solidFill>
              <a:ln w="11430">
                <a:solidFill>
                  <a:srgbClr val="287C78"/>
                </a:solidFill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4430458" y="874395"/>
                <a:ext cx="9258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00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>I</a:t>
                </a:r>
                <a:r>
                  <a:rPr lang="en-US" sz="600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>t</a:t>
                </a:r>
              </a:p>
            </p:txBody>
          </p:sp>
          <p:sp>
            <p:nvSpPr>
              <p:cNvPr id="36" name="Ellipse 36"/>
              <p:cNvSpPr/>
              <p:nvPr/>
            </p:nvSpPr>
            <p:spPr>
              <a:xfrm>
                <a:off x="5495925" y="809625"/>
                <a:ext cx="247650" cy="247650"/>
              </a:xfrm>
              <a:prstGeom prst="ellipse">
                <a:avLst/>
              </a:prstGeom>
              <a:solidFill>
                <a:srgbClr val="E7F4F2"/>
              </a:solidFill>
              <a:ln w="11430">
                <a:solidFill>
                  <a:srgbClr val="287C78"/>
                </a:solidFill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5559457" y="874395"/>
                <a:ext cx="120586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00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>x</a:t>
                </a:r>
                <a:r>
                  <a:rPr lang="en-US" sz="600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>t</a:t>
                </a:r>
              </a:p>
            </p:txBody>
          </p:sp>
          <p:sp>
            <p:nvSpPr>
              <p:cNvPr id="38" name="Ellipse 38"/>
              <p:cNvSpPr/>
              <p:nvPr/>
            </p:nvSpPr>
            <p:spPr>
              <a:xfrm>
                <a:off x="6638925" y="809625"/>
                <a:ext cx="247650" cy="247650"/>
              </a:xfrm>
              <a:prstGeom prst="ellipse">
                <a:avLst/>
              </a:prstGeom>
              <a:solidFill>
                <a:srgbClr val="FFFFFF"/>
              </a:solidFill>
              <a:ln w="11430">
                <a:solidFill>
                  <a:srgbClr val="1A1A1A"/>
                </a:solidFill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6648945" y="874395"/>
                <a:ext cx="227609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00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>G x</a:t>
                </a:r>
                <a:r>
                  <a:rPr lang="en-US" sz="600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>t</a:t>
                </a:r>
              </a:p>
            </p:txBody>
          </p:sp>
          <p:sp>
            <p:nvSpPr>
              <p:cNvPr id="40" name="Ellipse 40"/>
              <p:cNvSpPr/>
              <p:nvPr/>
            </p:nvSpPr>
            <p:spPr>
              <a:xfrm>
                <a:off x="7781925" y="809625"/>
                <a:ext cx="247650" cy="247650"/>
              </a:xfrm>
              <a:prstGeom prst="ellipse">
                <a:avLst/>
              </a:prstGeom>
              <a:solidFill>
                <a:srgbClr val="FFF0E5"/>
              </a:solidFill>
              <a:ln w="11430">
                <a:solidFill>
                  <a:srgbClr val="D17835"/>
                </a:solidFill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7845457" y="874395"/>
                <a:ext cx="120586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00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>ũ</a:t>
                </a:r>
                <a:r>
                  <a:rPr lang="en-US" sz="600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>t</a:t>
                </a:r>
              </a:p>
            </p:txBody>
          </p:sp>
          <p:sp>
            <p:nvSpPr>
              <p:cNvPr id="42" name="Ellipse 42"/>
              <p:cNvSpPr/>
              <p:nvPr/>
            </p:nvSpPr>
            <p:spPr>
              <a:xfrm>
                <a:off x="8924925" y="809625"/>
                <a:ext cx="247650" cy="247650"/>
              </a:xfrm>
              <a:prstGeom prst="ellipse">
                <a:avLst/>
              </a:prstGeom>
              <a:solidFill>
                <a:srgbClr val="FFF0E5"/>
              </a:solidFill>
              <a:ln w="11430">
                <a:solidFill>
                  <a:srgbClr val="D17835"/>
                </a:solidFill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8988457" y="874395"/>
                <a:ext cx="120586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00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>v</a:t>
                </a:r>
                <a:r>
                  <a:rPr lang="en-US" sz="600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>t</a:t>
                </a:r>
              </a:p>
            </p:txBody>
          </p:sp>
          <p:sp>
            <p:nvSpPr>
              <p:cNvPr id="44" name="Ellipse 44"/>
              <p:cNvSpPr/>
              <p:nvPr/>
            </p:nvSpPr>
            <p:spPr>
              <a:xfrm>
                <a:off x="10067925" y="809625"/>
                <a:ext cx="247650" cy="247650"/>
              </a:xfrm>
              <a:prstGeom prst="ellipse">
                <a:avLst/>
              </a:prstGeom>
              <a:solidFill>
                <a:srgbClr val="FFF6F4"/>
              </a:solidFill>
              <a:ln w="11430">
                <a:solidFill>
                  <a:srgbClr val="C63D32"/>
                </a:solidFill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10131457" y="874395"/>
                <a:ext cx="120586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00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>z</a:t>
                </a:r>
                <a:r>
                  <a:rPr lang="en-US" sz="600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>t</a:t>
                </a:r>
              </a:p>
            </p:txBody>
          </p:sp>
          <p:sp>
            <p:nvSpPr>
              <p:cNvPr id="46" name="Ellipse 46"/>
              <p:cNvSpPr/>
              <p:nvPr/>
            </p:nvSpPr>
            <p:spPr>
              <a:xfrm>
                <a:off x="11210925" y="809625"/>
                <a:ext cx="247650" cy="247650"/>
              </a:xfrm>
              <a:prstGeom prst="ellipse">
                <a:avLst/>
              </a:prstGeom>
              <a:solidFill>
                <a:srgbClr val="FFF0E5"/>
              </a:solidFill>
              <a:ln w="11430">
                <a:solidFill>
                  <a:srgbClr val="D17835"/>
                </a:solidFill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11274457" y="874395"/>
                <a:ext cx="120586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00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>u</a:t>
                </a:r>
                <a:r>
                  <a:rPr lang="en-US" sz="600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>t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11362068" y="994410"/>
                <a:ext cx="280286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i="1" dirty="0">
                    <a:solidFill>
                      <a:srgbClr val="C63D32"/>
                    </a:solidFill>
                    <a:latin typeface="Segoe UI"/>
                    <a:ea typeface="Segoe UI"/>
                    <a:cs typeface="Segoe UI"/>
                  </a:rPr>
                  <a:t>spike z</a:t>
                </a:r>
                <a:r>
                  <a:rPr lang="en-US" sz="600" i="1" dirty="0">
                    <a:solidFill>
                      <a:srgbClr val="C63D32"/>
                    </a:solidFill>
                    <a:latin typeface="Segoe UI"/>
                    <a:ea typeface="Segoe UI"/>
                    <a:cs typeface="Segoe UI"/>
                  </a:rPr>
                  <a:t>t</a:t>
                </a:r>
                <a:r>
                  <a:rPr lang="en-US" sz="1200" i="1" dirty="0">
                    <a:solidFill>
                      <a:srgbClr val="C63D32"/>
                    </a:solidFill>
                    <a:latin typeface="Segoe UI"/>
                    <a:ea typeface="Segoe UI"/>
                    <a:cs typeface="Segoe UI"/>
                  </a:rPr>
                  <a:t xml:space="preserve"> drives the projective reset</a:t>
                </a:r>
              </a:p>
            </p:txBody>
          </p:sp>
          <p:sp>
            <p:nvSpPr>
              <p:cNvPr id="49" name="Line 49"/>
              <p:cNvSpPr/>
              <p:nvPr/>
            </p:nvSpPr>
            <p:spPr>
              <a:xfrm>
                <a:off x="4600575" y="933450"/>
                <a:ext cx="895350" cy="1"/>
              </a:xfrm>
              <a:prstGeom prst="line">
                <a:avLst/>
              </a:prstGeom>
              <a:noFill/>
              <a:ln w="10478">
                <a:solidFill>
                  <a:srgbClr val="1A1A1A"/>
                </a:solidFill>
                <a:tailEnd type="triangle" w="lg" len="lg"/>
              </a:ln>
            </p:spPr>
          </p:sp>
          <p:sp>
            <p:nvSpPr>
              <p:cNvPr id="50" name="Line 50"/>
              <p:cNvSpPr/>
              <p:nvPr/>
            </p:nvSpPr>
            <p:spPr>
              <a:xfrm>
                <a:off x="5743575" y="933450"/>
                <a:ext cx="895350" cy="1"/>
              </a:xfrm>
              <a:prstGeom prst="line">
                <a:avLst/>
              </a:prstGeom>
              <a:noFill/>
              <a:ln w="10478">
                <a:solidFill>
                  <a:srgbClr val="1A1A1A"/>
                </a:solidFill>
                <a:tailEnd type="triangle" w="lg" len="lg"/>
              </a:ln>
            </p:spPr>
          </p:sp>
          <p:sp>
            <p:nvSpPr>
              <p:cNvPr id="51" name="Line 51"/>
              <p:cNvSpPr/>
              <p:nvPr/>
            </p:nvSpPr>
            <p:spPr>
              <a:xfrm>
                <a:off x="6886575" y="933450"/>
                <a:ext cx="895350" cy="1"/>
              </a:xfrm>
              <a:prstGeom prst="line">
                <a:avLst/>
              </a:prstGeom>
              <a:noFill/>
              <a:ln w="10478">
                <a:solidFill>
                  <a:srgbClr val="1A1A1A"/>
                </a:solidFill>
                <a:tailEnd type="triangle" w="lg" len="lg"/>
              </a:ln>
            </p:spPr>
          </p:sp>
          <p:sp>
            <p:nvSpPr>
              <p:cNvPr id="52" name="Line 52"/>
              <p:cNvSpPr/>
              <p:nvPr/>
            </p:nvSpPr>
            <p:spPr>
              <a:xfrm>
                <a:off x="8029575" y="933450"/>
                <a:ext cx="895350" cy="1"/>
              </a:xfrm>
              <a:prstGeom prst="line">
                <a:avLst/>
              </a:prstGeom>
              <a:noFill/>
              <a:ln w="10478">
                <a:solidFill>
                  <a:srgbClr val="1A1A1A"/>
                </a:solidFill>
                <a:tailEnd type="triangle" w="lg" len="lg"/>
              </a:ln>
            </p:spPr>
          </p:sp>
          <p:sp>
            <p:nvSpPr>
              <p:cNvPr id="53" name="Line 53"/>
              <p:cNvSpPr/>
              <p:nvPr/>
            </p:nvSpPr>
            <p:spPr>
              <a:xfrm>
                <a:off x="9172575" y="933450"/>
                <a:ext cx="895350" cy="1"/>
              </a:xfrm>
              <a:prstGeom prst="line">
                <a:avLst/>
              </a:prstGeom>
              <a:noFill/>
              <a:ln w="10478">
                <a:solidFill>
                  <a:srgbClr val="1A1A1A"/>
                </a:solidFill>
                <a:tailEnd type="triangle" w="lg" len="lg"/>
              </a:ln>
            </p:spPr>
          </p:sp>
          <p:sp>
            <p:nvSpPr>
              <p:cNvPr id="54" name="Line 54"/>
              <p:cNvSpPr/>
              <p:nvPr/>
            </p:nvSpPr>
            <p:spPr>
              <a:xfrm>
                <a:off x="10315575" y="933450"/>
                <a:ext cx="895350" cy="1"/>
              </a:xfrm>
              <a:prstGeom prst="line">
                <a:avLst/>
              </a:prstGeom>
              <a:noFill/>
              <a:ln w="10478">
                <a:solidFill>
                  <a:srgbClr val="1A1A1A"/>
                </a:solidFill>
                <a:tailEnd type="triangle" w="lg" len="lg"/>
              </a:ln>
            </p:spPr>
          </p:sp>
        </p:grpSp>
        <p:grpSp>
          <p:nvGrpSpPr>
            <p:cNvPr id="63" name="Group 63"/>
            <p:cNvGrpSpPr/>
            <p:nvPr/>
          </p:nvGrpSpPr>
          <p:grpSpPr>
            <a:xfrm>
              <a:off x="3549987" y="1156335"/>
              <a:ext cx="8859500" cy="368046"/>
              <a:chOff x="3549987" y="1156335"/>
              <a:chExt cx="8859500" cy="368046"/>
            </a:xfrm>
          </p:grpSpPr>
          <p:sp>
            <p:nvSpPr>
              <p:cNvPr id="56" name="TextBox 56"/>
              <p:cNvSpPr txBox="1"/>
              <p:nvPr/>
            </p:nvSpPr>
            <p:spPr>
              <a:xfrm>
                <a:off x="3549987" y="1156335"/>
                <a:ext cx="109152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>Input current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5802528" y="1156335"/>
                <a:ext cx="172994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>Slow spectral memory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6104126" y="1289685"/>
                <a:ext cx="112674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rgbClr val="287C78"/>
                    </a:solidFill>
                    <a:latin typeface="Segoe UI"/>
                    <a:ea typeface="Segoe UI"/>
                    <a:cs typeface="Segoe UI"/>
                  </a:rPr>
                  <a:t>x</a:t>
                </a:r>
                <a:r>
                  <a:rPr lang="en-US" sz="750" i="1" dirty="0">
                    <a:solidFill>
                      <a:srgbClr val="287C78"/>
                    </a:solidFill>
                    <a:latin typeface="Segoe UI"/>
                    <a:ea typeface="Segoe UI"/>
                    <a:cs typeface="Segoe UI"/>
                  </a:rPr>
                  <a:t>t</a:t>
                </a:r>
                <a:r>
                  <a:rPr lang="en-US" sz="1200" dirty="0">
                    <a:solidFill>
                      <a:srgbClr val="287C78"/>
                    </a:solidFill>
                    <a:latin typeface="Segoe UI"/>
                    <a:ea typeface="Segoe UI"/>
                    <a:cs typeface="Segoe UI"/>
                  </a:rPr>
                  <a:t xml:space="preserve"> ∈ ℝ</a:t>
                </a:r>
                <a:r>
                  <a:rPr lang="en-US" sz="680" dirty="0">
                    <a:solidFill>
                      <a:srgbClr val="287C78"/>
                    </a:solidFill>
                    <a:latin typeface="Segoe UI"/>
                    <a:ea typeface="Segoe UI"/>
                    <a:cs typeface="Segoe UI"/>
                  </a:rPr>
                  <a:t>3</a:t>
                </a:r>
                <a:r>
                  <a:rPr lang="en-US" sz="1200" dirty="0">
                    <a:solidFill>
                      <a:srgbClr val="287C78"/>
                    </a:solidFill>
                    <a:latin typeface="Segoe UI"/>
                    <a:ea typeface="Segoe UI"/>
                    <a:cs typeface="Segoe UI"/>
                  </a:rPr>
                  <a:t xml:space="preserve"> (Eq. 4)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8758206" y="1156335"/>
                <a:ext cx="96208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>G projection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8639866" y="1289685"/>
                <a:ext cx="119876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>G ∈ ℝ</a:t>
                </a:r>
                <a:r>
                  <a:rPr lang="en-US" sz="680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>2×3</a:t>
                </a:r>
                <a:r>
                  <a:rPr lang="en-US" sz="1200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 xml:space="preserve"> (Eq. 6)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10736262" y="1156335"/>
                <a:ext cx="167322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>Fast discharge state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11009501" y="1289685"/>
                <a:ext cx="112674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rgbClr val="D17835"/>
                    </a:solidFill>
                    <a:latin typeface="Segoe UI"/>
                    <a:ea typeface="Segoe UI"/>
                    <a:cs typeface="Segoe UI"/>
                  </a:rPr>
                  <a:t>u</a:t>
                </a:r>
                <a:r>
                  <a:rPr lang="en-US" sz="750" i="1" dirty="0">
                    <a:solidFill>
                      <a:srgbClr val="D17835"/>
                    </a:solidFill>
                    <a:latin typeface="Segoe UI"/>
                    <a:ea typeface="Segoe UI"/>
                    <a:cs typeface="Segoe UI"/>
                  </a:rPr>
                  <a:t>t</a:t>
                </a:r>
                <a:r>
                  <a:rPr lang="en-US" sz="1200" dirty="0">
                    <a:solidFill>
                      <a:srgbClr val="D17835"/>
                    </a:solidFill>
                    <a:latin typeface="Segoe UI"/>
                    <a:ea typeface="Segoe UI"/>
                    <a:cs typeface="Segoe UI"/>
                  </a:rPr>
                  <a:t xml:space="preserve"> ∈ ℝ</a:t>
                </a:r>
                <a:r>
                  <a:rPr lang="en-US" sz="680" dirty="0">
                    <a:solidFill>
                      <a:srgbClr val="D17835"/>
                    </a:solidFill>
                    <a:latin typeface="Segoe UI"/>
                    <a:ea typeface="Segoe UI"/>
                    <a:cs typeface="Segoe UI"/>
                  </a:rPr>
                  <a:t>2</a:t>
                </a:r>
                <a:r>
                  <a:rPr lang="en-US" sz="1200" dirty="0">
                    <a:solidFill>
                      <a:srgbClr val="D17835"/>
                    </a:solidFill>
                    <a:latin typeface="Segoe UI"/>
                    <a:ea typeface="Segoe UI"/>
                    <a:cs typeface="Segoe UI"/>
                  </a:rPr>
                  <a:t xml:space="preserve"> (Eq. 7)</a:t>
                </a:r>
              </a:p>
            </p:txBody>
          </p:sp>
        </p:grpSp>
        <p:grpSp>
          <p:nvGrpSpPr>
            <p:cNvPr id="73" name="Group 73"/>
            <p:cNvGrpSpPr/>
            <p:nvPr/>
          </p:nvGrpSpPr>
          <p:grpSpPr>
            <a:xfrm>
              <a:off x="3225394" y="1524000"/>
              <a:ext cx="3300679" cy="1905000"/>
              <a:chOff x="3225394" y="1524000"/>
              <a:chExt cx="3300679" cy="1905000"/>
            </a:xfrm>
          </p:grpSpPr>
          <p:sp>
            <p:nvSpPr>
              <p:cNvPr id="64" name="Rectangle 64"/>
              <p:cNvSpPr/>
              <p:nvPr/>
            </p:nvSpPr>
            <p:spPr>
              <a:xfrm>
                <a:off x="3524250" y="1524000"/>
                <a:ext cx="1143000" cy="1905000"/>
              </a:xfrm>
              <a:prstGeom prst="roundRect">
                <a:avLst>
                  <a:gd name="adj" fmla="val 6667"/>
                </a:avLst>
              </a:prstGeom>
              <a:solidFill>
                <a:srgbClr val="F2F4F7">
                  <a:alpha val="45000"/>
                </a:srgbClr>
              </a:solidFill>
              <a:ln w="8572">
                <a:solidFill>
                  <a:srgbClr val="9AA4B0"/>
                </a:solidFill>
              </a:ln>
            </p:spPr>
          </p:sp>
          <p:sp>
            <p:nvSpPr>
              <p:cNvPr id="65" name="Rectangle 65"/>
              <p:cNvSpPr/>
              <p:nvPr/>
            </p:nvSpPr>
            <p:spPr>
              <a:xfrm>
                <a:off x="3600450" y="1695450"/>
                <a:ext cx="990600" cy="381000"/>
              </a:xfrm>
              <a:prstGeom prst="roundRect">
                <a:avLst>
                  <a:gd name="adj" fmla="val 10000"/>
                </a:avLst>
              </a:prstGeom>
              <a:solidFill>
                <a:srgbClr val="FFFFFF"/>
              </a:solidFill>
              <a:ln w="9525">
                <a:solidFill>
                  <a:srgbClr val="1A1A1A"/>
                </a:solidFill>
              </a:ln>
            </p:spPr>
          </p:sp>
          <p:sp>
            <p:nvSpPr>
              <p:cNvPr id="66" name="TextBox 66"/>
              <p:cNvSpPr txBox="1"/>
              <p:nvPr/>
            </p:nvSpPr>
            <p:spPr>
              <a:xfrm>
                <a:off x="3968441" y="1727835"/>
                <a:ext cx="25461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>I</a:t>
                </a:r>
                <a:r>
                  <a:rPr lang="en-US" sz="680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>t</a:t>
                </a:r>
                <a:r>
                  <a:rPr lang="en-US" sz="1200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 xml:space="preserve"> =</a:t>
                </a:r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3756384" y="1870710"/>
                <a:ext cx="67873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>W</a:t>
                </a:r>
                <a:r>
                  <a:rPr lang="en-US" sz="680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>in</a:t>
                </a:r>
                <a:r>
                  <a:rPr lang="en-US" sz="1200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 xml:space="preserve"> s</a:t>
                </a:r>
                <a:r>
                  <a:rPr lang="en-US" sz="680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>t</a:t>
                </a:r>
                <a:r>
                  <a:rPr lang="en-US" sz="1200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 xml:space="preserve"> + b</a:t>
                </a:r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3738548" y="2156460"/>
                <a:ext cx="71440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>+ W</a:t>
                </a:r>
                <a:r>
                  <a:rPr lang="en-US" sz="680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>rec</a:t>
                </a:r>
                <a:r>
                  <a:rPr lang="en-US" sz="1200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 xml:space="preserve"> z</a:t>
                </a:r>
                <a:r>
                  <a:rPr lang="en-US" sz="680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>t−1</a:t>
                </a:r>
              </a:p>
            </p:txBody>
          </p:sp>
          <p:sp>
            <p:nvSpPr>
              <p:cNvPr id="69" name="Freeform 69"/>
              <p:cNvSpPr/>
              <p:nvPr/>
            </p:nvSpPr>
            <p:spPr>
              <a:xfrm>
                <a:off x="4648200" y="2762250"/>
                <a:ext cx="49530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142875">
                    <a:moveTo>
                      <a:pt x="0" y="0"/>
                    </a:moveTo>
                    <a:cubicBezTo>
                      <a:pt x="495300" y="0"/>
                      <a:pt x="495300" y="142875"/>
                      <a:pt x="0" y="142875"/>
                    </a:cubicBezTo>
                  </a:path>
                </a:pathLst>
              </a:custGeom>
              <a:noFill/>
              <a:ln w="9525">
                <a:solidFill>
                  <a:srgbClr val="6E6E6E"/>
                </a:solidFill>
                <a:custDash>
                  <a:ds d="300000" sp="250000"/>
                </a:custDash>
                <a:tailEnd type="triangle" w="lg" len="lg"/>
              </a:ln>
            </p:spPr>
          </p:sp>
          <p:sp>
            <p:nvSpPr>
              <p:cNvPr id="70" name="TextBox 70"/>
              <p:cNvSpPr txBox="1"/>
              <p:nvPr/>
            </p:nvSpPr>
            <p:spPr>
              <a:xfrm>
                <a:off x="4946904" y="2575560"/>
                <a:ext cx="157916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6E6E6E"/>
                    </a:solidFill>
                    <a:latin typeface="Segoe UI"/>
                    <a:ea typeface="Segoe UI"/>
                    <a:cs typeface="Segoe UI"/>
                  </a:rPr>
                  <a:t>optional recurrence</a:t>
                </a: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3617138" y="3032760"/>
                <a:ext cx="95722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>input drives</a:t>
                </a: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3225394" y="3166110"/>
                <a:ext cx="174071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>all downstream blocks</a:t>
                </a:r>
              </a:p>
            </p:txBody>
          </p:sp>
        </p:grpSp>
        <p:sp>
          <p:nvSpPr>
            <p:cNvPr id="74" name="Line 74"/>
            <p:cNvSpPr/>
            <p:nvPr/>
          </p:nvSpPr>
          <p:spPr>
            <a:xfrm>
              <a:off x="4667250" y="2476500"/>
              <a:ext cx="190500" cy="1"/>
            </a:xfrm>
            <a:prstGeom prst="line">
              <a:avLst/>
            </a:prstGeom>
            <a:noFill/>
            <a:ln w="11430">
              <a:solidFill>
                <a:srgbClr val="1A1A1A"/>
              </a:solidFill>
              <a:tailEnd type="triangle" w="lg" len="lg"/>
            </a:ln>
          </p:spPr>
        </p:sp>
        <p:sp>
          <p:nvSpPr>
            <p:cNvPr id="75" name="Line 75"/>
            <p:cNvSpPr/>
            <p:nvPr/>
          </p:nvSpPr>
          <p:spPr>
            <a:xfrm>
              <a:off x="4857750" y="1714500"/>
              <a:ext cx="9525" cy="762000"/>
            </a:xfrm>
            <a:custGeom>
              <a:avLst/>
              <a:gdLst/>
              <a:ahLst/>
              <a:cxnLst/>
              <a:rect l="l" t="t" r="r" b="b"/>
              <a:pathLst>
                <a:path w="9525" h="762000">
                  <a:moveTo>
                    <a:pt x="0" y="762000"/>
                  </a:moveTo>
                  <a:lnTo>
                    <a:pt x="0" y="0"/>
                  </a:lnTo>
                </a:path>
              </a:pathLst>
            </a:custGeom>
            <a:noFill/>
            <a:ln w="8572">
              <a:solidFill>
                <a:srgbClr val="1A1A1A"/>
              </a:solidFill>
              <a:prstDash val="sysDot"/>
            </a:ln>
          </p:spPr>
        </p:sp>
        <p:sp>
          <p:nvSpPr>
            <p:cNvPr id="76" name="Line 76"/>
            <p:cNvSpPr/>
            <p:nvPr/>
          </p:nvSpPr>
          <p:spPr>
            <a:xfrm>
              <a:off x="4857750" y="1714500"/>
              <a:ext cx="285750" cy="1"/>
            </a:xfrm>
            <a:prstGeom prst="line">
              <a:avLst/>
            </a:prstGeom>
            <a:noFill/>
            <a:ln w="8572">
              <a:solidFill>
                <a:srgbClr val="1A1A1A"/>
              </a:solidFill>
              <a:prstDash val="sysDot"/>
              <a:tailEnd type="triangle" w="lg" len="lg"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4870704" y="1489710"/>
              <a:ext cx="1077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E6E6E"/>
                  </a:solidFill>
                  <a:latin typeface="Segoe UI"/>
                  <a:ea typeface="Segoe UI"/>
                  <a:cs typeface="Segoe UI"/>
                </a:rPr>
                <a:t>I</a:t>
              </a:r>
              <a:r>
                <a:rPr lang="en-US" sz="600" dirty="0">
                  <a:solidFill>
                    <a:srgbClr val="6E6E6E"/>
                  </a:solidFill>
                  <a:latin typeface="Segoe UI"/>
                  <a:ea typeface="Segoe UI"/>
                  <a:cs typeface="Segoe UI"/>
                </a:rPr>
                <a:t>t</a:t>
              </a:r>
            </a:p>
          </p:txBody>
        </p:sp>
        <p:grpSp>
          <p:nvGrpSpPr>
            <p:cNvPr id="135" name="Group 135"/>
            <p:cNvGrpSpPr/>
            <p:nvPr/>
          </p:nvGrpSpPr>
          <p:grpSpPr>
            <a:xfrm>
              <a:off x="4634484" y="1123950"/>
              <a:ext cx="5557266" cy="4019550"/>
              <a:chOff x="4634484" y="1123950"/>
              <a:chExt cx="5557266" cy="4019550"/>
            </a:xfrm>
          </p:grpSpPr>
          <p:sp>
            <p:nvSpPr>
              <p:cNvPr id="78" name="Rectangle 78"/>
              <p:cNvSpPr/>
              <p:nvPr/>
            </p:nvSpPr>
            <p:spPr>
              <a:xfrm>
                <a:off x="4762500" y="1524000"/>
                <a:ext cx="3810000" cy="3619500"/>
              </a:xfrm>
              <a:prstGeom prst="roundRect">
                <a:avLst>
                  <a:gd name="adj" fmla="val 2105"/>
                </a:avLst>
              </a:prstGeom>
              <a:solidFill>
                <a:srgbClr val="E7F4F2">
                  <a:alpha val="45000"/>
                </a:srgbClr>
              </a:solidFill>
              <a:ln w="11430">
                <a:solidFill>
                  <a:srgbClr val="287C78"/>
                </a:solidFill>
              </a:ln>
            </p:spPr>
          </p:sp>
          <p:sp>
            <p:nvSpPr>
              <p:cNvPr id="79" name="Ellipse 79"/>
              <p:cNvSpPr/>
              <p:nvPr/>
            </p:nvSpPr>
            <p:spPr>
              <a:xfrm>
                <a:off x="4914900" y="1962150"/>
                <a:ext cx="266700" cy="266700"/>
              </a:xfrm>
              <a:prstGeom prst="ellipse">
                <a:avLst/>
              </a:prstGeom>
              <a:solidFill>
                <a:srgbClr val="E7F4F2"/>
              </a:solidFill>
              <a:ln w="12382">
                <a:solidFill>
                  <a:srgbClr val="287C78"/>
                </a:solidFill>
              </a:ln>
            </p:spPr>
          </p:sp>
          <p:sp>
            <p:nvSpPr>
              <p:cNvPr id="80" name="TextBox 80"/>
              <p:cNvSpPr txBox="1"/>
              <p:nvPr/>
            </p:nvSpPr>
            <p:spPr>
              <a:xfrm>
                <a:off x="4921320" y="2036445"/>
                <a:ext cx="253860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00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>x</a:t>
                </a:r>
                <a:r>
                  <a:rPr lang="en-US" sz="600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>t−1</a:t>
                </a:r>
                <a:r>
                  <a:rPr lang="en-US" sz="600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>0</a:t>
                </a:r>
              </a:p>
            </p:txBody>
          </p:sp>
          <p:sp>
            <p:nvSpPr>
              <p:cNvPr id="81" name="Ellipse 81"/>
              <p:cNvSpPr/>
              <p:nvPr/>
            </p:nvSpPr>
            <p:spPr>
              <a:xfrm>
                <a:off x="4914900" y="2819400"/>
                <a:ext cx="266700" cy="266700"/>
              </a:xfrm>
              <a:prstGeom prst="ellipse">
                <a:avLst/>
              </a:prstGeom>
              <a:solidFill>
                <a:srgbClr val="E7F4F2"/>
              </a:solidFill>
              <a:ln w="12382">
                <a:solidFill>
                  <a:srgbClr val="287C78"/>
                </a:solidFill>
              </a:ln>
            </p:spPr>
          </p:sp>
          <p:sp>
            <p:nvSpPr>
              <p:cNvPr id="82" name="TextBox 82"/>
              <p:cNvSpPr txBox="1"/>
              <p:nvPr/>
            </p:nvSpPr>
            <p:spPr>
              <a:xfrm>
                <a:off x="4921320" y="2893695"/>
                <a:ext cx="253860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00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>x</a:t>
                </a:r>
                <a:r>
                  <a:rPr lang="en-US" sz="600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>t−1</a:t>
                </a:r>
                <a:r>
                  <a:rPr lang="en-US" sz="600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>1</a:t>
                </a:r>
              </a:p>
            </p:txBody>
          </p:sp>
          <p:sp>
            <p:nvSpPr>
              <p:cNvPr id="83" name="Ellipse 83"/>
              <p:cNvSpPr/>
              <p:nvPr/>
            </p:nvSpPr>
            <p:spPr>
              <a:xfrm>
                <a:off x="4914900" y="3676650"/>
                <a:ext cx="266700" cy="266700"/>
              </a:xfrm>
              <a:prstGeom prst="ellipse">
                <a:avLst/>
              </a:prstGeom>
              <a:solidFill>
                <a:srgbClr val="E7F4F2"/>
              </a:solidFill>
              <a:ln w="12382">
                <a:solidFill>
                  <a:srgbClr val="287C78"/>
                </a:solidFill>
              </a:ln>
            </p:spPr>
          </p:sp>
          <p:sp>
            <p:nvSpPr>
              <p:cNvPr id="84" name="TextBox 84"/>
              <p:cNvSpPr txBox="1"/>
              <p:nvPr/>
            </p:nvSpPr>
            <p:spPr>
              <a:xfrm>
                <a:off x="4921320" y="3750945"/>
                <a:ext cx="253860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00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>x</a:t>
                </a:r>
                <a:r>
                  <a:rPr lang="en-US" sz="600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>t−1</a:t>
                </a:r>
                <a:r>
                  <a:rPr lang="en-US" sz="600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>2</a:t>
                </a:r>
              </a:p>
            </p:txBody>
          </p:sp>
          <p:sp>
            <p:nvSpPr>
              <p:cNvPr id="85" name="Ellipse 85"/>
              <p:cNvSpPr/>
              <p:nvPr/>
            </p:nvSpPr>
            <p:spPr>
              <a:xfrm>
                <a:off x="6153150" y="1962150"/>
                <a:ext cx="266700" cy="266700"/>
              </a:xfrm>
              <a:prstGeom prst="ellipse">
                <a:avLst/>
              </a:prstGeom>
              <a:solidFill>
                <a:srgbClr val="FFFFFF"/>
              </a:solidFill>
              <a:ln w="12382">
                <a:solidFill>
                  <a:srgbClr val="287C78"/>
                </a:solidFill>
              </a:ln>
            </p:spPr>
          </p:sp>
          <p:sp>
            <p:nvSpPr>
              <p:cNvPr id="86" name="TextBox 86"/>
              <p:cNvSpPr txBox="1"/>
              <p:nvPr/>
            </p:nvSpPr>
            <p:spPr>
              <a:xfrm>
                <a:off x="6240351" y="2020252"/>
                <a:ext cx="9229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>+</a:t>
                </a:r>
              </a:p>
            </p:txBody>
          </p:sp>
          <p:sp>
            <p:nvSpPr>
              <p:cNvPr id="87" name="Ellipse 87"/>
              <p:cNvSpPr/>
              <p:nvPr/>
            </p:nvSpPr>
            <p:spPr>
              <a:xfrm>
                <a:off x="6153150" y="2819400"/>
                <a:ext cx="266700" cy="266700"/>
              </a:xfrm>
              <a:prstGeom prst="ellipse">
                <a:avLst/>
              </a:prstGeom>
              <a:solidFill>
                <a:srgbClr val="FFFFFF"/>
              </a:solidFill>
              <a:ln w="12382">
                <a:solidFill>
                  <a:srgbClr val="287C78"/>
                </a:solidFill>
              </a:ln>
            </p:spPr>
          </p:sp>
          <p:sp>
            <p:nvSpPr>
              <p:cNvPr id="88" name="TextBox 88"/>
              <p:cNvSpPr txBox="1"/>
              <p:nvPr/>
            </p:nvSpPr>
            <p:spPr>
              <a:xfrm>
                <a:off x="6240351" y="2877502"/>
                <a:ext cx="9229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>+</a:t>
                </a:r>
              </a:p>
            </p:txBody>
          </p:sp>
          <p:sp>
            <p:nvSpPr>
              <p:cNvPr id="89" name="Ellipse 89"/>
              <p:cNvSpPr/>
              <p:nvPr/>
            </p:nvSpPr>
            <p:spPr>
              <a:xfrm>
                <a:off x="6153150" y="3676650"/>
                <a:ext cx="266700" cy="266700"/>
              </a:xfrm>
              <a:prstGeom prst="ellipse">
                <a:avLst/>
              </a:prstGeom>
              <a:solidFill>
                <a:srgbClr val="FFFFFF"/>
              </a:solidFill>
              <a:ln w="12382">
                <a:solidFill>
                  <a:srgbClr val="287C78"/>
                </a:solidFill>
              </a:ln>
            </p:spPr>
          </p:sp>
          <p:sp>
            <p:nvSpPr>
              <p:cNvPr id="90" name="TextBox 90"/>
              <p:cNvSpPr txBox="1"/>
              <p:nvPr/>
            </p:nvSpPr>
            <p:spPr>
              <a:xfrm>
                <a:off x="6240351" y="3734752"/>
                <a:ext cx="9229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>+</a:t>
                </a:r>
              </a:p>
            </p:txBody>
          </p:sp>
          <p:sp>
            <p:nvSpPr>
              <p:cNvPr id="91" name="Ellipse 91"/>
              <p:cNvSpPr/>
              <p:nvPr/>
            </p:nvSpPr>
            <p:spPr>
              <a:xfrm>
                <a:off x="8058150" y="1962150"/>
                <a:ext cx="266700" cy="266700"/>
              </a:xfrm>
              <a:prstGeom prst="ellipse">
                <a:avLst/>
              </a:prstGeom>
              <a:solidFill>
                <a:srgbClr val="E7F4F2"/>
              </a:solidFill>
              <a:ln w="15240">
                <a:solidFill>
                  <a:srgbClr val="287C78"/>
                </a:solidFill>
              </a:ln>
            </p:spPr>
          </p:sp>
          <p:sp>
            <p:nvSpPr>
              <p:cNvPr id="92" name="TextBox 92"/>
              <p:cNvSpPr txBox="1"/>
              <p:nvPr/>
            </p:nvSpPr>
            <p:spPr>
              <a:xfrm>
                <a:off x="8108994" y="2036445"/>
                <a:ext cx="165011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00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>x</a:t>
                </a:r>
                <a:r>
                  <a:rPr lang="en-US" sz="600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>t</a:t>
                </a:r>
                <a:r>
                  <a:rPr lang="en-US" sz="600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>0</a:t>
                </a:r>
              </a:p>
            </p:txBody>
          </p:sp>
          <p:sp>
            <p:nvSpPr>
              <p:cNvPr id="93" name="Ellipse 93"/>
              <p:cNvSpPr/>
              <p:nvPr/>
            </p:nvSpPr>
            <p:spPr>
              <a:xfrm>
                <a:off x="8058150" y="2819400"/>
                <a:ext cx="266700" cy="266700"/>
              </a:xfrm>
              <a:prstGeom prst="ellipse">
                <a:avLst/>
              </a:prstGeom>
              <a:solidFill>
                <a:srgbClr val="E7F4F2"/>
              </a:solidFill>
              <a:ln w="15240">
                <a:solidFill>
                  <a:srgbClr val="287C78"/>
                </a:solidFill>
              </a:ln>
            </p:spPr>
          </p:sp>
          <p:sp>
            <p:nvSpPr>
              <p:cNvPr id="94" name="TextBox 94"/>
              <p:cNvSpPr txBox="1"/>
              <p:nvPr/>
            </p:nvSpPr>
            <p:spPr>
              <a:xfrm>
                <a:off x="8108994" y="2893695"/>
                <a:ext cx="165011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00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>x</a:t>
                </a:r>
                <a:r>
                  <a:rPr lang="en-US" sz="600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>t</a:t>
                </a:r>
                <a:r>
                  <a:rPr lang="en-US" sz="600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>1</a:t>
                </a:r>
              </a:p>
            </p:txBody>
          </p:sp>
          <p:sp>
            <p:nvSpPr>
              <p:cNvPr id="95" name="Ellipse 95"/>
              <p:cNvSpPr/>
              <p:nvPr/>
            </p:nvSpPr>
            <p:spPr>
              <a:xfrm>
                <a:off x="8058150" y="3676650"/>
                <a:ext cx="266700" cy="266700"/>
              </a:xfrm>
              <a:prstGeom prst="ellipse">
                <a:avLst/>
              </a:prstGeom>
              <a:solidFill>
                <a:srgbClr val="E7F4F2"/>
              </a:solidFill>
              <a:ln w="15240">
                <a:solidFill>
                  <a:srgbClr val="287C78"/>
                </a:solidFill>
              </a:ln>
            </p:spPr>
          </p:sp>
          <p:sp>
            <p:nvSpPr>
              <p:cNvPr id="96" name="TextBox 96"/>
              <p:cNvSpPr txBox="1"/>
              <p:nvPr/>
            </p:nvSpPr>
            <p:spPr>
              <a:xfrm>
                <a:off x="8108994" y="3750945"/>
                <a:ext cx="165011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00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>x</a:t>
                </a:r>
                <a:r>
                  <a:rPr lang="en-US" sz="600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>t</a:t>
                </a:r>
                <a:r>
                  <a:rPr lang="en-US" sz="600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>2</a:t>
                </a:r>
              </a:p>
            </p:txBody>
          </p:sp>
          <p:sp>
            <p:nvSpPr>
              <p:cNvPr id="97" name="Line 97"/>
              <p:cNvSpPr/>
              <p:nvPr/>
            </p:nvSpPr>
            <p:spPr>
              <a:xfrm>
                <a:off x="5181600" y="2095500"/>
                <a:ext cx="971550" cy="1"/>
              </a:xfrm>
              <a:prstGeom prst="line">
                <a:avLst/>
              </a:prstGeom>
              <a:noFill/>
              <a:ln w="11430">
                <a:solidFill>
                  <a:srgbClr val="287C78"/>
                </a:solidFill>
                <a:tailEnd type="triangle" w="lg" len="lg"/>
              </a:ln>
            </p:spPr>
          </p:sp>
          <p:sp>
            <p:nvSpPr>
              <p:cNvPr id="98" name="TextBox 98"/>
              <p:cNvSpPr txBox="1"/>
              <p:nvPr/>
            </p:nvSpPr>
            <p:spPr>
              <a:xfrm>
                <a:off x="5616854" y="1899285"/>
                <a:ext cx="10104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i="1" dirty="0">
                    <a:solidFill>
                      <a:srgbClr val="287C78"/>
                    </a:solidFill>
                    <a:latin typeface="Segoe UI"/>
                    <a:ea typeface="Segoe UI"/>
                    <a:cs typeface="Segoe UI"/>
                  </a:rPr>
                  <a:t>α</a:t>
                </a:r>
              </a:p>
            </p:txBody>
          </p:sp>
          <p:sp>
            <p:nvSpPr>
              <p:cNvPr id="99" name="Line 99"/>
              <p:cNvSpPr/>
              <p:nvPr/>
            </p:nvSpPr>
            <p:spPr>
              <a:xfrm flipV="1">
                <a:off x="5715000" y="2143125"/>
                <a:ext cx="523875" cy="190500"/>
              </a:xfrm>
              <a:prstGeom prst="line">
                <a:avLst/>
              </a:prstGeom>
              <a:noFill/>
              <a:ln w="11430">
                <a:solidFill>
                  <a:srgbClr val="287C78"/>
                </a:solidFill>
                <a:tailEnd type="triangle" w="lg" len="lg"/>
              </a:ln>
            </p:spPr>
          </p:sp>
          <p:sp>
            <p:nvSpPr>
              <p:cNvPr id="100" name="TextBox 100"/>
              <p:cNvSpPr txBox="1"/>
              <p:nvPr/>
            </p:nvSpPr>
            <p:spPr>
              <a:xfrm>
                <a:off x="5785104" y="2299335"/>
                <a:ext cx="60883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i="1" dirty="0">
                    <a:solidFill>
                      <a:srgbClr val="287C78"/>
                    </a:solidFill>
                    <a:latin typeface="Segoe UI"/>
                    <a:ea typeface="Segoe UI"/>
                    <a:cs typeface="Segoe UI"/>
                  </a:rPr>
                  <a:t>(1−α) I</a:t>
                </a:r>
                <a:r>
                  <a:rPr lang="en-US" sz="600" i="1" dirty="0">
                    <a:solidFill>
                      <a:srgbClr val="287C78"/>
                    </a:solidFill>
                    <a:latin typeface="Segoe UI"/>
                    <a:ea typeface="Segoe UI"/>
                    <a:cs typeface="Segoe UI"/>
                  </a:rPr>
                  <a:t>t</a:t>
                </a:r>
              </a:p>
            </p:txBody>
          </p:sp>
          <p:sp>
            <p:nvSpPr>
              <p:cNvPr id="101" name="Line 101"/>
              <p:cNvSpPr/>
              <p:nvPr/>
            </p:nvSpPr>
            <p:spPr>
              <a:xfrm>
                <a:off x="6419850" y="2095500"/>
                <a:ext cx="1638300" cy="1"/>
              </a:xfrm>
              <a:prstGeom prst="line">
                <a:avLst/>
              </a:prstGeom>
              <a:noFill/>
              <a:ln w="11430">
                <a:solidFill>
                  <a:srgbClr val="287C78"/>
                </a:solidFill>
                <a:tailEnd type="triangle" w="lg" len="lg"/>
              </a:ln>
            </p:spPr>
          </p:sp>
          <p:sp>
            <p:nvSpPr>
              <p:cNvPr id="102" name="TextBox 102"/>
              <p:cNvSpPr txBox="1"/>
              <p:nvPr/>
            </p:nvSpPr>
            <p:spPr>
              <a:xfrm>
                <a:off x="5042154" y="1632585"/>
                <a:ext cx="13182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rgbClr val="287C78"/>
                    </a:solidFill>
                    <a:latin typeface="Segoe UI"/>
                    <a:ea typeface="Segoe UI"/>
                    <a:cs typeface="Segoe UI"/>
                  </a:rPr>
                  <a:t>real decay mode</a:t>
                </a:r>
              </a:p>
            </p:txBody>
          </p:sp>
          <p:sp>
            <p:nvSpPr>
              <p:cNvPr id="103" name="TextBox 103"/>
              <p:cNvSpPr txBox="1"/>
              <p:nvPr/>
            </p:nvSpPr>
            <p:spPr>
              <a:xfrm>
                <a:off x="5042154" y="1746885"/>
                <a:ext cx="104607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287C78"/>
                    </a:solidFill>
                    <a:latin typeface="Segoe UI"/>
                    <a:ea typeface="Segoe UI"/>
                    <a:cs typeface="Segoe UI"/>
                  </a:rPr>
                  <a:t>eigenvalue: α</a:t>
                </a:r>
              </a:p>
            </p:txBody>
          </p:sp>
          <p:sp>
            <p:nvSpPr>
              <p:cNvPr id="104" name="Freeform 104"/>
              <p:cNvSpPr/>
              <p:nvPr/>
            </p:nvSpPr>
            <p:spPr>
              <a:xfrm>
                <a:off x="6524625" y="2298700"/>
                <a:ext cx="1476375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476375" h="127000">
                    <a:moveTo>
                      <a:pt x="0" y="63500"/>
                    </a:moveTo>
                    <a:cubicBezTo>
                      <a:pt x="222250" y="0"/>
                      <a:pt x="460375" y="0"/>
                      <a:pt x="714375" y="63500"/>
                    </a:cubicBezTo>
                    <a:cubicBezTo>
                      <a:pt x="968375" y="127000"/>
                      <a:pt x="1222375" y="127000"/>
                      <a:pt x="1476375" y="63500"/>
                    </a:cubicBezTo>
                  </a:path>
                </a:pathLst>
              </a:custGeom>
              <a:noFill/>
              <a:ln w="7620">
                <a:solidFill>
                  <a:srgbClr val="287C78">
                    <a:alpha val="55000"/>
                  </a:srgbClr>
                </a:solidFill>
                <a:custDash>
                  <a:ds d="187500" sp="250000"/>
                </a:custDash>
              </a:ln>
            </p:spPr>
          </p:sp>
          <p:sp>
            <p:nvSpPr>
              <p:cNvPr id="105" name="Line 105"/>
              <p:cNvSpPr/>
              <p:nvPr/>
            </p:nvSpPr>
            <p:spPr>
              <a:xfrm>
                <a:off x="5181600" y="2952750"/>
                <a:ext cx="1000125" cy="1"/>
              </a:xfrm>
              <a:prstGeom prst="line">
                <a:avLst/>
              </a:prstGeom>
              <a:noFill/>
              <a:ln w="11430">
                <a:solidFill>
                  <a:srgbClr val="287C78"/>
                </a:solidFill>
                <a:tailEnd type="triangle" w="lg" len="lg"/>
              </a:ln>
            </p:spPr>
          </p:sp>
          <p:sp>
            <p:nvSpPr>
              <p:cNvPr id="106" name="TextBox 106"/>
              <p:cNvSpPr txBox="1"/>
              <p:nvPr/>
            </p:nvSpPr>
            <p:spPr>
              <a:xfrm>
                <a:off x="5343068" y="2756535"/>
                <a:ext cx="55336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i="1" dirty="0">
                    <a:solidFill>
                      <a:srgbClr val="287C78"/>
                    </a:solidFill>
                    <a:latin typeface="Segoe UI"/>
                    <a:ea typeface="Segoe UI"/>
                    <a:cs typeface="Segoe UI"/>
                  </a:rPr>
                  <a:t>ρ cos ω</a:t>
                </a:r>
              </a:p>
            </p:txBody>
          </p:sp>
          <p:sp>
            <p:nvSpPr>
              <p:cNvPr id="107" name="Line 107"/>
              <p:cNvSpPr/>
              <p:nvPr/>
            </p:nvSpPr>
            <p:spPr>
              <a:xfrm flipV="1">
                <a:off x="5143500" y="3000375"/>
                <a:ext cx="1066800" cy="752475"/>
              </a:xfrm>
              <a:prstGeom prst="line">
                <a:avLst/>
              </a:prstGeom>
              <a:noFill/>
              <a:ln w="10478">
                <a:solidFill>
                  <a:srgbClr val="287C78"/>
                </a:solidFill>
                <a:tailEnd type="triangle" w="lg" len="lg"/>
              </a:ln>
            </p:spPr>
          </p:sp>
          <p:sp>
            <p:nvSpPr>
              <p:cNvPr id="108" name="TextBox 108"/>
              <p:cNvSpPr txBox="1"/>
              <p:nvPr/>
            </p:nvSpPr>
            <p:spPr>
              <a:xfrm>
                <a:off x="5442204" y="3242310"/>
                <a:ext cx="60182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i="1" dirty="0">
                    <a:solidFill>
                      <a:srgbClr val="287C78"/>
                    </a:solidFill>
                    <a:latin typeface="Segoe UI"/>
                    <a:ea typeface="Segoe UI"/>
                    <a:cs typeface="Segoe UI"/>
                  </a:rPr>
                  <a:t>−ρ sin ω</a:t>
                </a:r>
              </a:p>
            </p:txBody>
          </p:sp>
          <p:sp>
            <p:nvSpPr>
              <p:cNvPr id="109" name="Line 109"/>
              <p:cNvSpPr/>
              <p:nvPr/>
            </p:nvSpPr>
            <p:spPr>
              <a:xfrm>
                <a:off x="5143500" y="3009900"/>
                <a:ext cx="1066800" cy="752475"/>
              </a:xfrm>
              <a:prstGeom prst="line">
                <a:avLst/>
              </a:prstGeom>
              <a:noFill/>
              <a:ln w="10478">
                <a:solidFill>
                  <a:srgbClr val="287C78"/>
                </a:solidFill>
                <a:tailEnd type="triangle" w="lg" len="lg"/>
              </a:ln>
            </p:spPr>
          </p:sp>
          <p:sp>
            <p:nvSpPr>
              <p:cNvPr id="110" name="TextBox 110"/>
              <p:cNvSpPr txBox="1"/>
              <p:nvPr/>
            </p:nvSpPr>
            <p:spPr>
              <a:xfrm>
                <a:off x="5442204" y="3413760"/>
                <a:ext cx="51297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i="1" dirty="0">
                    <a:solidFill>
                      <a:srgbClr val="287C78"/>
                    </a:solidFill>
                    <a:latin typeface="Segoe UI"/>
                    <a:ea typeface="Segoe UI"/>
                    <a:cs typeface="Segoe UI"/>
                  </a:rPr>
                  <a:t>ρ sin ω</a:t>
                </a:r>
              </a:p>
            </p:txBody>
          </p:sp>
          <p:sp>
            <p:nvSpPr>
              <p:cNvPr id="111" name="Line 111"/>
              <p:cNvSpPr/>
              <p:nvPr/>
            </p:nvSpPr>
            <p:spPr>
              <a:xfrm>
                <a:off x="5181600" y="3810000"/>
                <a:ext cx="971550" cy="1"/>
              </a:xfrm>
              <a:prstGeom prst="line">
                <a:avLst/>
              </a:prstGeom>
              <a:noFill/>
              <a:ln w="11430">
                <a:solidFill>
                  <a:srgbClr val="287C78"/>
                </a:solidFill>
                <a:tailEnd type="triangle" w="lg" len="lg"/>
              </a:ln>
            </p:spPr>
          </p:sp>
          <p:sp>
            <p:nvSpPr>
              <p:cNvPr id="112" name="TextBox 112"/>
              <p:cNvSpPr txBox="1"/>
              <p:nvPr/>
            </p:nvSpPr>
            <p:spPr>
              <a:xfrm>
                <a:off x="5343068" y="3851910"/>
                <a:ext cx="55336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i="1" dirty="0">
                    <a:solidFill>
                      <a:srgbClr val="287C78"/>
                    </a:solidFill>
                    <a:latin typeface="Segoe UI"/>
                    <a:ea typeface="Segoe UI"/>
                    <a:cs typeface="Segoe UI"/>
                  </a:rPr>
                  <a:t>ρ cos ω</a:t>
                </a:r>
              </a:p>
            </p:txBody>
          </p:sp>
          <p:sp>
            <p:nvSpPr>
              <p:cNvPr id="113" name="Line 113"/>
              <p:cNvSpPr/>
              <p:nvPr/>
            </p:nvSpPr>
            <p:spPr>
              <a:xfrm>
                <a:off x="6419850" y="2952750"/>
                <a:ext cx="1638300" cy="1"/>
              </a:xfrm>
              <a:prstGeom prst="line">
                <a:avLst/>
              </a:prstGeom>
              <a:noFill/>
              <a:ln w="11430">
                <a:solidFill>
                  <a:srgbClr val="287C78"/>
                </a:solidFill>
                <a:tailEnd type="triangle" w="lg" len="lg"/>
              </a:ln>
            </p:spPr>
          </p:sp>
          <p:sp>
            <p:nvSpPr>
              <p:cNvPr id="114" name="Line 114"/>
              <p:cNvSpPr/>
              <p:nvPr/>
            </p:nvSpPr>
            <p:spPr>
              <a:xfrm>
                <a:off x="6419850" y="3810000"/>
                <a:ext cx="1638300" cy="1"/>
              </a:xfrm>
              <a:prstGeom prst="line">
                <a:avLst/>
              </a:prstGeom>
              <a:noFill/>
              <a:ln w="11430">
                <a:solidFill>
                  <a:srgbClr val="287C78"/>
                </a:solidFill>
                <a:tailEnd type="triangle" w="lg" len="lg"/>
              </a:ln>
            </p:spPr>
          </p:sp>
          <p:sp>
            <p:nvSpPr>
              <p:cNvPr id="115" name="Line 115"/>
              <p:cNvSpPr/>
              <p:nvPr/>
            </p:nvSpPr>
            <p:spPr>
              <a:xfrm flipV="1">
                <a:off x="5715000" y="3000375"/>
                <a:ext cx="495300" cy="190500"/>
              </a:xfrm>
              <a:prstGeom prst="line">
                <a:avLst/>
              </a:prstGeom>
              <a:noFill/>
              <a:ln w="13335">
                <a:solidFill>
                  <a:srgbClr val="287C78"/>
                </a:solidFill>
                <a:tailEnd type="triangle" w="lg" len="lg"/>
              </a:ln>
            </p:spPr>
          </p:sp>
          <p:sp>
            <p:nvSpPr>
              <p:cNvPr id="116" name="Rectangle 116"/>
              <p:cNvSpPr/>
              <p:nvPr/>
            </p:nvSpPr>
            <p:spPr>
              <a:xfrm>
                <a:off x="4762500" y="2647950"/>
                <a:ext cx="1143000" cy="190500"/>
              </a:xfrm>
              <a:prstGeom prst="roundRect">
                <a:avLst>
                  <a:gd name="adj" fmla="val 15000"/>
                </a:avLst>
              </a:prstGeom>
              <a:solidFill>
                <a:srgbClr val="FFFFFF"/>
              </a:solidFill>
              <a:ln w="9525">
                <a:solidFill>
                  <a:srgbClr val="287C78"/>
                </a:solidFill>
              </a:ln>
            </p:spPr>
          </p:sp>
          <p:sp>
            <p:nvSpPr>
              <p:cNvPr id="117" name="TextBox 117"/>
              <p:cNvSpPr txBox="1"/>
              <p:nvPr/>
            </p:nvSpPr>
            <p:spPr>
              <a:xfrm>
                <a:off x="4634484" y="2651760"/>
                <a:ext cx="139903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287C78"/>
                    </a:solidFill>
                    <a:latin typeface="Segoe UI"/>
                    <a:ea typeface="Segoe UI"/>
                    <a:cs typeface="Segoe UI"/>
                  </a:rPr>
                  <a:t>(1−ρ) I</a:t>
                </a:r>
                <a:r>
                  <a:rPr lang="en-US" sz="600" b="1" dirty="0">
                    <a:solidFill>
                      <a:srgbClr val="287C78"/>
                    </a:solidFill>
                    <a:latin typeface="Segoe UI"/>
                    <a:ea typeface="Segoe UI"/>
                    <a:cs typeface="Segoe UI"/>
                  </a:rPr>
                  <a:t>t</a:t>
                </a:r>
                <a:r>
                  <a:rPr lang="en-US" sz="1200" b="1" dirty="0">
                    <a:solidFill>
                      <a:srgbClr val="287C78"/>
                    </a:solidFill>
                    <a:latin typeface="Segoe UI"/>
                    <a:ea typeface="Segoe UI"/>
                    <a:cs typeface="Segoe UI"/>
                  </a:rPr>
                  <a:t xml:space="preserve"> → x</a:t>
                </a:r>
                <a:r>
                  <a:rPr lang="en-US" sz="600" b="1" dirty="0">
                    <a:solidFill>
                      <a:srgbClr val="287C78"/>
                    </a:solidFill>
                    <a:latin typeface="Segoe UI"/>
                    <a:ea typeface="Segoe UI"/>
                    <a:cs typeface="Segoe UI"/>
                  </a:rPr>
                  <a:t>t</a:t>
                </a:r>
                <a:r>
                  <a:rPr lang="en-US" sz="600" b="1" dirty="0">
                    <a:solidFill>
                      <a:srgbClr val="287C78"/>
                    </a:solidFill>
                    <a:latin typeface="Segoe UI"/>
                    <a:ea typeface="Segoe UI"/>
                    <a:cs typeface="Segoe UI"/>
                  </a:rPr>
                  <a:t>1</a:t>
                </a:r>
                <a:r>
                  <a:rPr lang="en-US" sz="1200" b="1" dirty="0">
                    <a:solidFill>
                      <a:srgbClr val="287C78"/>
                    </a:solidFill>
                    <a:latin typeface="Segoe UI"/>
                    <a:ea typeface="Segoe UI"/>
                    <a:cs typeface="Segoe UI"/>
                  </a:rPr>
                  <a:t xml:space="preserve"> only</a:t>
                </a:r>
              </a:p>
            </p:txBody>
          </p:sp>
          <p:sp>
            <p:nvSpPr>
              <p:cNvPr id="118" name="TextBox 118"/>
              <p:cNvSpPr txBox="1"/>
              <p:nvPr/>
            </p:nvSpPr>
            <p:spPr>
              <a:xfrm>
                <a:off x="6661404" y="4042410"/>
                <a:ext cx="163570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C63D32"/>
                    </a:solidFill>
                    <a:latin typeface="Segoe UI"/>
                    <a:ea typeface="Segoe UI"/>
                    <a:cs typeface="Segoe UI"/>
                  </a:rPr>
                  <a:t>no direct input to x</a:t>
                </a:r>
                <a:r>
                  <a:rPr lang="en-US" sz="600" dirty="0">
                    <a:solidFill>
                      <a:srgbClr val="C63D32"/>
                    </a:solidFill>
                    <a:latin typeface="Segoe UI"/>
                    <a:ea typeface="Segoe UI"/>
                    <a:cs typeface="Segoe UI"/>
                  </a:rPr>
                  <a:t>t</a:t>
                </a:r>
                <a:r>
                  <a:rPr lang="en-US" sz="600" dirty="0">
                    <a:solidFill>
                      <a:srgbClr val="C63D32"/>
                    </a:solidFill>
                    <a:latin typeface="Segoe UI"/>
                    <a:ea typeface="Segoe UI"/>
                    <a:cs typeface="Segoe UI"/>
                  </a:rPr>
                  <a:t>2</a:t>
                </a:r>
              </a:p>
            </p:txBody>
          </p:sp>
          <p:grpSp>
            <p:nvGrpSpPr>
              <p:cNvPr id="121" name="Group 121"/>
              <p:cNvGrpSpPr/>
              <p:nvPr/>
            </p:nvGrpSpPr>
            <p:grpSpPr>
              <a:xfrm>
                <a:off x="6210300" y="3752850"/>
                <a:ext cx="76200" cy="76200"/>
                <a:chOff x="6210300" y="3752850"/>
                <a:chExt cx="76200" cy="76200"/>
              </a:xfrm>
            </p:grpSpPr>
            <p:sp>
              <p:nvSpPr>
                <p:cNvPr id="119" name="Line 119"/>
                <p:cNvSpPr/>
                <p:nvPr/>
              </p:nvSpPr>
              <p:spPr>
                <a:xfrm>
                  <a:off x="6210300" y="3752850"/>
                  <a:ext cx="76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76200">
                      <a:moveTo>
                        <a:pt x="0" y="0"/>
                      </a:moveTo>
                      <a:lnTo>
                        <a:pt x="76200" y="76200"/>
                      </a:lnTo>
                    </a:path>
                  </a:pathLst>
                </a:custGeom>
                <a:noFill/>
                <a:ln w="11430">
                  <a:solidFill>
                    <a:srgbClr val="C63D32"/>
                  </a:solidFill>
                </a:ln>
              </p:spPr>
            </p:sp>
            <p:sp>
              <p:nvSpPr>
                <p:cNvPr id="120" name="Line 120"/>
                <p:cNvSpPr/>
                <p:nvPr/>
              </p:nvSpPr>
              <p:spPr>
                <a:xfrm>
                  <a:off x="6210300" y="3752850"/>
                  <a:ext cx="76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76200">
                      <a:moveTo>
                        <a:pt x="76200" y="0"/>
                      </a:moveTo>
                      <a:lnTo>
                        <a:pt x="0" y="76200"/>
                      </a:lnTo>
                    </a:path>
                  </a:pathLst>
                </a:custGeom>
                <a:noFill/>
                <a:ln w="11430">
                  <a:solidFill>
                    <a:srgbClr val="C63D32"/>
                  </a:solidFill>
                </a:ln>
              </p:spPr>
            </p:sp>
          </p:grpSp>
          <p:sp>
            <p:nvSpPr>
              <p:cNvPr id="122" name="TextBox 122"/>
              <p:cNvSpPr txBox="1"/>
              <p:nvPr/>
            </p:nvSpPr>
            <p:spPr>
              <a:xfrm>
                <a:off x="7423404" y="2537460"/>
                <a:ext cx="181865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rgbClr val="287C78"/>
                    </a:solidFill>
                    <a:latin typeface="Segoe UI"/>
                    <a:ea typeface="Segoe UI"/>
                    <a:cs typeface="Segoe UI"/>
                  </a:rPr>
                  <a:t>damped rotation mode</a:t>
                </a:r>
              </a:p>
            </p:txBody>
          </p:sp>
          <p:sp>
            <p:nvSpPr>
              <p:cNvPr id="123" name="TextBox 123"/>
              <p:cNvSpPr txBox="1"/>
              <p:nvPr/>
            </p:nvSpPr>
            <p:spPr>
              <a:xfrm>
                <a:off x="7423404" y="2651760"/>
                <a:ext cx="138531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287C78"/>
                    </a:solidFill>
                    <a:latin typeface="Segoe UI"/>
                    <a:ea typeface="Segoe UI"/>
                    <a:cs typeface="Segoe UI"/>
                  </a:rPr>
                  <a:t>eigenvalues: ρ e</a:t>
                </a:r>
                <a:r>
                  <a:rPr lang="en-US" sz="600" dirty="0">
                    <a:solidFill>
                      <a:srgbClr val="287C78"/>
                    </a:solidFill>
                    <a:latin typeface="Segoe UI"/>
                    <a:ea typeface="Segoe UI"/>
                    <a:cs typeface="Segoe UI"/>
                  </a:rPr>
                  <a:t>±iω</a:t>
                </a:r>
              </a:p>
            </p:txBody>
          </p:sp>
          <p:grpSp>
            <p:nvGrpSpPr>
              <p:cNvPr id="128" name="Group 128"/>
              <p:cNvGrpSpPr/>
              <p:nvPr/>
            </p:nvGrpSpPr>
            <p:grpSpPr>
              <a:xfrm>
                <a:off x="7600950" y="4076700"/>
                <a:ext cx="609600" cy="867156"/>
                <a:chOff x="7600950" y="4076700"/>
                <a:chExt cx="609600" cy="867156"/>
              </a:xfrm>
            </p:grpSpPr>
            <p:sp>
              <p:nvSpPr>
                <p:cNvPr id="124" name="Ellipse 124"/>
                <p:cNvSpPr/>
                <p:nvPr/>
              </p:nvSpPr>
              <p:spPr>
                <a:xfrm>
                  <a:off x="7600950" y="4076700"/>
                  <a:ext cx="609600" cy="609600"/>
                </a:xfrm>
                <a:prstGeom prst="ellipse">
                  <a:avLst/>
                </a:prstGeom>
                <a:solidFill>
                  <a:srgbClr val="FFFFFF">
                    <a:alpha val="50000"/>
                  </a:srgbClr>
                </a:solidFill>
                <a:ln w="7620">
                  <a:solidFill>
                    <a:srgbClr val="287C78">
                      <a:alpha val="50000"/>
                    </a:srgbClr>
                  </a:solidFill>
                  <a:prstDash val="sysDot"/>
                </a:ln>
              </p:spPr>
            </p:sp>
            <p:sp>
              <p:nvSpPr>
                <p:cNvPr id="125" name="Freeform 125"/>
                <p:cNvSpPr/>
                <p:nvPr/>
              </p:nvSpPr>
              <p:spPr>
                <a:xfrm rot="-900000">
                  <a:off x="7638442" y="4095750"/>
                  <a:ext cx="533663" cy="552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3663" h="552450">
                      <a:moveTo>
                        <a:pt x="267308" y="285750"/>
                      </a:moveTo>
                      <a:moveTo>
                        <a:pt x="267308" y="19050"/>
                      </a:moveTo>
                      <a:cubicBezTo>
                        <a:pt x="414509" y="19313"/>
                        <a:pt x="533663" y="138786"/>
                        <a:pt x="533531" y="285988"/>
                      </a:cubicBezTo>
                      <a:cubicBezTo>
                        <a:pt x="533400" y="433189"/>
                        <a:pt x="414033" y="552450"/>
                        <a:pt x="266831" y="552450"/>
                      </a:cubicBezTo>
                      <a:cubicBezTo>
                        <a:pt x="119630" y="552450"/>
                        <a:pt x="263" y="433189"/>
                        <a:pt x="131" y="285988"/>
                      </a:cubicBezTo>
                      <a:cubicBezTo>
                        <a:pt x="0" y="138786"/>
                        <a:pt x="119154" y="19313"/>
                        <a:pt x="266355" y="19050"/>
                      </a:cubicBezTo>
                      <a:moveTo>
                        <a:pt x="267308" y="0"/>
                      </a:moveTo>
                      <a:cubicBezTo>
                        <a:pt x="141149" y="263"/>
                        <a:pt x="39053" y="102678"/>
                        <a:pt x="39184" y="228838"/>
                      </a:cubicBezTo>
                      <a:cubicBezTo>
                        <a:pt x="39315" y="354997"/>
                        <a:pt x="141625" y="457200"/>
                        <a:pt x="267784" y="457200"/>
                      </a:cubicBezTo>
                      <a:cubicBezTo>
                        <a:pt x="393943" y="457200"/>
                        <a:pt x="496252" y="354997"/>
                        <a:pt x="496384" y="228838"/>
                      </a:cubicBezTo>
                      <a:cubicBezTo>
                        <a:pt x="496515" y="102678"/>
                        <a:pt x="394419" y="263"/>
                        <a:pt x="268260" y="0"/>
                      </a:cubicBezTo>
                      <a:moveTo>
                        <a:pt x="267308" y="19050"/>
                      </a:moveTo>
                      <a:cubicBezTo>
                        <a:pt x="372425" y="19313"/>
                        <a:pt x="457463" y="104670"/>
                        <a:pt x="457331" y="209788"/>
                      </a:cubicBezTo>
                      <a:cubicBezTo>
                        <a:pt x="457200" y="314905"/>
                        <a:pt x="371949" y="400049"/>
                        <a:pt x="266831" y="400049"/>
                      </a:cubicBezTo>
                      <a:cubicBezTo>
                        <a:pt x="161714" y="400049"/>
                        <a:pt x="76463" y="314905"/>
                        <a:pt x="76331" y="209788"/>
                      </a:cubicBezTo>
                      <a:cubicBezTo>
                        <a:pt x="76200" y="104670"/>
                        <a:pt x="161238" y="19313"/>
                        <a:pt x="266355" y="19050"/>
                      </a:cubicBezTo>
                      <a:moveTo>
                        <a:pt x="267308" y="0"/>
                      </a:moveTo>
                      <a:cubicBezTo>
                        <a:pt x="183233" y="263"/>
                        <a:pt x="115253" y="68562"/>
                        <a:pt x="115384" y="152637"/>
                      </a:cubicBezTo>
                      <a:cubicBezTo>
                        <a:pt x="115515" y="236712"/>
                        <a:pt x="183709" y="304799"/>
                        <a:pt x="267784" y="304799"/>
                      </a:cubicBezTo>
                      <a:cubicBezTo>
                        <a:pt x="351859" y="304799"/>
                        <a:pt x="420052" y="236712"/>
                        <a:pt x="420184" y="152637"/>
                      </a:cubicBezTo>
                      <a:cubicBezTo>
                        <a:pt x="420315" y="68562"/>
                        <a:pt x="352335" y="263"/>
                        <a:pt x="268260" y="0"/>
                      </a:cubicBezTo>
                      <a:moveTo>
                        <a:pt x="267308" y="19050"/>
                      </a:moveTo>
                      <a:cubicBezTo>
                        <a:pt x="330340" y="19313"/>
                        <a:pt x="381262" y="70554"/>
                        <a:pt x="381131" y="133587"/>
                      </a:cubicBezTo>
                      <a:cubicBezTo>
                        <a:pt x="381000" y="196620"/>
                        <a:pt x="329864" y="247649"/>
                        <a:pt x="266831" y="247649"/>
                      </a:cubicBezTo>
                      <a:cubicBezTo>
                        <a:pt x="203798" y="247649"/>
                        <a:pt x="152663" y="196620"/>
                        <a:pt x="152532" y="133587"/>
                      </a:cubicBezTo>
                      <a:cubicBezTo>
                        <a:pt x="152400" y="70554"/>
                        <a:pt x="203322" y="19313"/>
                        <a:pt x="266355" y="19050"/>
                      </a:cubicBezTo>
                      <a:moveTo>
                        <a:pt x="267308" y="0"/>
                      </a:moveTo>
                      <a:cubicBezTo>
                        <a:pt x="225317" y="262"/>
                        <a:pt x="191453" y="34446"/>
                        <a:pt x="191584" y="76437"/>
                      </a:cubicBezTo>
                      <a:cubicBezTo>
                        <a:pt x="191715" y="118428"/>
                        <a:pt x="225793" y="152399"/>
                        <a:pt x="267784" y="152399"/>
                      </a:cubicBezTo>
                      <a:cubicBezTo>
                        <a:pt x="309775" y="152399"/>
                        <a:pt x="343852" y="118428"/>
                        <a:pt x="343983" y="76437"/>
                      </a:cubicBezTo>
                      <a:cubicBezTo>
                        <a:pt x="344115" y="34446"/>
                        <a:pt x="310250" y="262"/>
                        <a:pt x="268260" y="0"/>
                      </a:cubicBezTo>
                      <a:moveTo>
                        <a:pt x="267308" y="19050"/>
                      </a:moveTo>
                      <a:cubicBezTo>
                        <a:pt x="288255" y="19312"/>
                        <a:pt x="305062" y="36436"/>
                        <a:pt x="304931" y="57385"/>
                      </a:cubicBezTo>
                      <a:cubicBezTo>
                        <a:pt x="304800" y="78334"/>
                        <a:pt x="287780" y="95247"/>
                        <a:pt x="266831" y="95247"/>
                      </a:cubicBezTo>
                      <a:cubicBezTo>
                        <a:pt x="245882" y="95247"/>
                        <a:pt x="228863" y="78334"/>
                        <a:pt x="228732" y="57385"/>
                      </a:cubicBezTo>
                      <a:cubicBezTo>
                        <a:pt x="228601" y="36436"/>
                        <a:pt x="245408" y="19312"/>
                        <a:pt x="266355" y="19050"/>
                      </a:cubicBezTo>
                    </a:path>
                  </a:pathLst>
                </a:custGeom>
                <a:noFill/>
                <a:ln w="9525">
                  <a:solidFill>
                    <a:srgbClr val="287C78">
                      <a:alpha val="75000"/>
                    </a:srgbClr>
                  </a:solidFill>
                </a:ln>
              </p:spPr>
            </p:sp>
            <p:sp>
              <p:nvSpPr>
                <p:cNvPr id="126" name="Ellipse 126"/>
                <p:cNvSpPr/>
                <p:nvPr/>
              </p:nvSpPr>
              <p:spPr>
                <a:xfrm>
                  <a:off x="7891462" y="4367212"/>
                  <a:ext cx="28575" cy="28575"/>
                </a:xfrm>
                <a:prstGeom prst="ellipse">
                  <a:avLst/>
                </a:prstGeom>
                <a:solidFill>
                  <a:srgbClr val="287C78"/>
                </a:solidFill>
                <a:ln>
                  <a:noFill/>
                </a:ln>
              </p:spPr>
            </p:sp>
            <p:sp>
              <p:nvSpPr>
                <p:cNvPr id="127" name="TextBox 127"/>
                <p:cNvSpPr txBox="1"/>
                <p:nvPr/>
              </p:nvSpPr>
              <p:spPr>
                <a:xfrm>
                  <a:off x="7737100" y="4709160"/>
                  <a:ext cx="337299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200" dirty="0">
                      <a:solidFill>
                        <a:srgbClr val="287C78"/>
                      </a:solidFill>
                      <a:latin typeface="Segoe UI"/>
                      <a:ea typeface="Segoe UI"/>
                      <a:cs typeface="Segoe UI"/>
                    </a:rPr>
                    <a:t>ρ e</a:t>
                  </a:r>
                  <a:r>
                    <a:rPr lang="en-US" sz="520" dirty="0">
                      <a:solidFill>
                        <a:srgbClr val="287C78"/>
                      </a:solidFill>
                      <a:latin typeface="Segoe UI"/>
                      <a:ea typeface="Segoe UI"/>
                      <a:cs typeface="Segoe UI"/>
                    </a:rPr>
                    <a:t>±iω</a:t>
                  </a:r>
                </a:p>
              </p:txBody>
            </p:sp>
          </p:grpSp>
          <p:sp>
            <p:nvSpPr>
              <p:cNvPr id="129" name="TextBox 129"/>
              <p:cNvSpPr txBox="1"/>
              <p:nvPr/>
            </p:nvSpPr>
            <p:spPr>
              <a:xfrm>
                <a:off x="5042154" y="4728210"/>
                <a:ext cx="96543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287C78"/>
                    </a:solidFill>
                    <a:latin typeface="Segoe UI"/>
                    <a:ea typeface="Segoe UI"/>
                    <a:cs typeface="Segoe UI"/>
                  </a:rPr>
                  <a:t>Δx</a:t>
                </a:r>
                <a:r>
                  <a:rPr lang="en-US" sz="680" dirty="0">
                    <a:solidFill>
                      <a:srgbClr val="287C78"/>
                    </a:solidFill>
                    <a:latin typeface="Segoe UI"/>
                    <a:ea typeface="Segoe UI"/>
                    <a:cs typeface="Segoe UI"/>
                  </a:rPr>
                  <a:t>t</a:t>
                </a:r>
                <a:r>
                  <a:rPr lang="en-US" sz="1200" i="1" dirty="0">
                    <a:solidFill>
                      <a:srgbClr val="287C78"/>
                    </a:solidFill>
                    <a:latin typeface="Segoe UI"/>
                    <a:ea typeface="Segoe UI"/>
                    <a:cs typeface="Segoe UI"/>
                  </a:rPr>
                  <a:t>reset</a:t>
                </a:r>
                <a:r>
                  <a:rPr lang="en-US" sz="1200" dirty="0">
                    <a:solidFill>
                      <a:srgbClr val="287C78"/>
                    </a:solidFill>
                    <a:latin typeface="Segoe UI"/>
                    <a:ea typeface="Segoe UI"/>
                    <a:cs typeface="Segoe UI"/>
                  </a:rPr>
                  <a:t xml:space="preserve"> = 0</a:t>
                </a:r>
              </a:p>
            </p:txBody>
          </p:sp>
          <p:sp>
            <p:nvSpPr>
              <p:cNvPr id="130" name="Line 130"/>
              <p:cNvSpPr/>
              <p:nvPr/>
            </p:nvSpPr>
            <p:spPr>
              <a:xfrm>
                <a:off x="8382000" y="1123950"/>
                <a:ext cx="1809750" cy="590550"/>
              </a:xfrm>
              <a:custGeom>
                <a:avLst/>
                <a:gdLst/>
                <a:ahLst/>
                <a:cxnLst/>
                <a:rect l="l" t="t" r="r" b="b"/>
                <a:pathLst>
                  <a:path w="1809750" h="590550">
                    <a:moveTo>
                      <a:pt x="1809750" y="0"/>
                    </a:moveTo>
                    <a:lnTo>
                      <a:pt x="0" y="590550"/>
                    </a:lnTo>
                  </a:path>
                </a:pathLst>
              </a:custGeom>
              <a:noFill/>
              <a:ln w="8572">
                <a:solidFill>
                  <a:srgbClr val="C63D32">
                    <a:alpha val="70000"/>
                  </a:srgbClr>
                </a:solidFill>
                <a:custDash>
                  <a:ds d="333333" sp="277777"/>
                </a:custDash>
              </a:ln>
            </p:spPr>
          </p:sp>
          <p:grpSp>
            <p:nvGrpSpPr>
              <p:cNvPr id="133" name="Group 133"/>
              <p:cNvGrpSpPr/>
              <p:nvPr/>
            </p:nvGrpSpPr>
            <p:grpSpPr>
              <a:xfrm>
                <a:off x="8324850" y="1657350"/>
                <a:ext cx="114300" cy="114300"/>
                <a:chOff x="8324850" y="1657350"/>
                <a:chExt cx="114300" cy="114300"/>
              </a:xfrm>
            </p:grpSpPr>
            <p:sp>
              <p:nvSpPr>
                <p:cNvPr id="131" name="Line 131"/>
                <p:cNvSpPr/>
                <p:nvPr/>
              </p:nvSpPr>
              <p:spPr>
                <a:xfrm>
                  <a:off x="8324850" y="1657350"/>
                  <a:ext cx="11430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114300">
                      <a:moveTo>
                        <a:pt x="0" y="0"/>
                      </a:moveTo>
                      <a:lnTo>
                        <a:pt x="114300" y="114300"/>
                      </a:lnTo>
                    </a:path>
                  </a:pathLst>
                </a:custGeom>
                <a:noFill/>
                <a:ln w="13335">
                  <a:solidFill>
                    <a:srgbClr val="C63D32"/>
                  </a:solidFill>
                </a:ln>
              </p:spPr>
            </p:sp>
            <p:sp>
              <p:nvSpPr>
                <p:cNvPr id="132" name="Line 132"/>
                <p:cNvSpPr/>
                <p:nvPr/>
              </p:nvSpPr>
              <p:spPr>
                <a:xfrm>
                  <a:off x="8324850" y="1657350"/>
                  <a:ext cx="11430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114300">
                      <a:moveTo>
                        <a:pt x="114300" y="0"/>
                      </a:moveTo>
                      <a:lnTo>
                        <a:pt x="0" y="114300"/>
                      </a:lnTo>
                    </a:path>
                  </a:pathLst>
                </a:custGeom>
                <a:noFill/>
                <a:ln w="13335">
                  <a:solidFill>
                    <a:srgbClr val="C63D32"/>
                  </a:solidFill>
                </a:ln>
              </p:spPr>
            </p:sp>
          </p:grpSp>
          <p:sp>
            <p:nvSpPr>
              <p:cNvPr id="134" name="TextBox 134"/>
              <p:cNvSpPr txBox="1"/>
              <p:nvPr/>
            </p:nvSpPr>
            <p:spPr>
              <a:xfrm>
                <a:off x="8756904" y="1489710"/>
                <a:ext cx="122377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i="1" dirty="0">
                    <a:solidFill>
                      <a:srgbClr val="C63D32"/>
                    </a:solidFill>
                    <a:latin typeface="Segoe UI"/>
                    <a:ea typeface="Segoe UI"/>
                    <a:cs typeface="Segoe UI"/>
                  </a:rPr>
                  <a:t>no direct reset</a:t>
                </a:r>
              </a:p>
            </p:txBody>
          </p:sp>
        </p:grpSp>
        <p:grpSp>
          <p:nvGrpSpPr>
            <p:cNvPr id="148" name="Group 148"/>
            <p:cNvGrpSpPr/>
            <p:nvPr/>
          </p:nvGrpSpPr>
          <p:grpSpPr>
            <a:xfrm>
              <a:off x="8324850" y="1524000"/>
              <a:ext cx="2157565" cy="2384107"/>
              <a:chOff x="8324850" y="1524000"/>
              <a:chExt cx="2157565" cy="2384107"/>
            </a:xfrm>
          </p:grpSpPr>
          <p:sp>
            <p:nvSpPr>
              <p:cNvPr id="136" name="Rectangle 136"/>
              <p:cNvSpPr/>
              <p:nvPr/>
            </p:nvSpPr>
            <p:spPr>
              <a:xfrm>
                <a:off x="8667750" y="1524000"/>
                <a:ext cx="1143000" cy="1905000"/>
              </a:xfrm>
              <a:prstGeom prst="roundRect">
                <a:avLst>
                  <a:gd name="adj" fmla="val 6667"/>
                </a:avLst>
              </a:prstGeom>
              <a:solidFill>
                <a:srgbClr val="FAFBFC"/>
              </a:solidFill>
              <a:ln w="9525">
                <a:solidFill>
                  <a:srgbClr val="1A1A1A"/>
                </a:solidFill>
              </a:ln>
            </p:spPr>
          </p:sp>
          <p:sp>
            <p:nvSpPr>
              <p:cNvPr id="137" name="TextBox 137"/>
              <p:cNvSpPr txBox="1"/>
              <p:nvPr/>
            </p:nvSpPr>
            <p:spPr>
              <a:xfrm>
                <a:off x="9166327" y="1726882"/>
                <a:ext cx="14584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>G</a:t>
                </a:r>
              </a:p>
            </p:txBody>
          </p:sp>
          <p:sp>
            <p:nvSpPr>
              <p:cNvPr id="138" name="TextBox 138"/>
              <p:cNvSpPr txBox="1"/>
              <p:nvPr/>
            </p:nvSpPr>
            <p:spPr>
              <a:xfrm>
                <a:off x="8671789" y="1965960"/>
                <a:ext cx="113492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>6 proj. coeffs</a:t>
                </a:r>
              </a:p>
            </p:txBody>
          </p:sp>
          <p:sp>
            <p:nvSpPr>
              <p:cNvPr id="139" name="Line 139"/>
              <p:cNvSpPr/>
              <p:nvPr/>
            </p:nvSpPr>
            <p:spPr>
              <a:xfrm>
                <a:off x="8324850" y="2095500"/>
                <a:ext cx="342900" cy="190500"/>
              </a:xfrm>
              <a:prstGeom prst="line">
                <a:avLst/>
              </a:prstGeom>
              <a:noFill/>
              <a:ln w="9525">
                <a:solidFill>
                  <a:srgbClr val="287C78"/>
                </a:solidFill>
                <a:tailEnd type="triangle" w="lg" len="lg"/>
              </a:ln>
            </p:spPr>
          </p:sp>
          <p:sp>
            <p:nvSpPr>
              <p:cNvPr id="140" name="Line 140"/>
              <p:cNvSpPr/>
              <p:nvPr/>
            </p:nvSpPr>
            <p:spPr>
              <a:xfrm flipV="1">
                <a:off x="8324850" y="2571750"/>
                <a:ext cx="342900" cy="381000"/>
              </a:xfrm>
              <a:prstGeom prst="line">
                <a:avLst/>
              </a:prstGeom>
              <a:noFill/>
              <a:ln w="9525">
                <a:solidFill>
                  <a:srgbClr val="287C78"/>
                </a:solidFill>
                <a:tailEnd type="triangle" w="lg" len="lg"/>
              </a:ln>
            </p:spPr>
          </p:sp>
          <p:sp>
            <p:nvSpPr>
              <p:cNvPr id="141" name="Line 141"/>
              <p:cNvSpPr/>
              <p:nvPr/>
            </p:nvSpPr>
            <p:spPr>
              <a:xfrm flipV="1">
                <a:off x="8324850" y="2857500"/>
                <a:ext cx="342900" cy="952500"/>
              </a:xfrm>
              <a:prstGeom prst="line">
                <a:avLst/>
              </a:prstGeom>
              <a:noFill/>
              <a:ln w="9525">
                <a:solidFill>
                  <a:srgbClr val="287C78"/>
                </a:solidFill>
                <a:tailEnd type="triangle" w="lg" len="lg"/>
              </a:ln>
            </p:spPr>
          </p:sp>
          <p:sp>
            <p:nvSpPr>
              <p:cNvPr id="142" name="Line 142"/>
              <p:cNvSpPr/>
              <p:nvPr/>
            </p:nvSpPr>
            <p:spPr>
              <a:xfrm>
                <a:off x="9810750" y="2286000"/>
                <a:ext cx="247650" cy="1"/>
              </a:xfrm>
              <a:prstGeom prst="line">
                <a:avLst/>
              </a:prstGeom>
              <a:noFill/>
              <a:ln w="10478">
                <a:solidFill>
                  <a:srgbClr val="1A1A1A"/>
                </a:solidFill>
                <a:tailEnd type="triangle" w="lg" len="lg"/>
              </a:ln>
            </p:spPr>
          </p:sp>
          <p:sp>
            <p:nvSpPr>
              <p:cNvPr id="143" name="Line 143"/>
              <p:cNvSpPr/>
              <p:nvPr/>
            </p:nvSpPr>
            <p:spPr>
              <a:xfrm>
                <a:off x="9810750" y="2857500"/>
                <a:ext cx="247650" cy="952500"/>
              </a:xfrm>
              <a:prstGeom prst="line">
                <a:avLst/>
              </a:prstGeom>
              <a:noFill/>
              <a:ln w="10478">
                <a:solidFill>
                  <a:srgbClr val="1A1A1A"/>
                </a:solidFill>
                <a:tailEnd type="triangle" w="lg" len="lg"/>
              </a:ln>
            </p:spPr>
          </p:sp>
          <p:sp>
            <p:nvSpPr>
              <p:cNvPr id="144" name="TextBox 144"/>
              <p:cNvSpPr txBox="1"/>
              <p:nvPr/>
            </p:nvSpPr>
            <p:spPr>
              <a:xfrm>
                <a:off x="10110788" y="2160270"/>
                <a:ext cx="371627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00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>(Gx</a:t>
                </a:r>
                <a:r>
                  <a:rPr lang="en-US" sz="600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>t</a:t>
                </a:r>
                <a:r>
                  <a:rPr lang="en-US" sz="900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>)</a:t>
                </a:r>
                <a:r>
                  <a:rPr lang="en-US" sz="600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>0</a:t>
                </a:r>
              </a:p>
            </p:txBody>
          </p:sp>
          <p:sp>
            <p:nvSpPr>
              <p:cNvPr id="145" name="TextBox 145"/>
              <p:cNvSpPr txBox="1"/>
              <p:nvPr/>
            </p:nvSpPr>
            <p:spPr>
              <a:xfrm>
                <a:off x="10110788" y="3731895"/>
                <a:ext cx="371627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00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>(Gx</a:t>
                </a:r>
                <a:r>
                  <a:rPr lang="en-US" sz="600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>t</a:t>
                </a:r>
                <a:r>
                  <a:rPr lang="en-US" sz="900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>)</a:t>
                </a:r>
                <a:r>
                  <a:rPr lang="en-US" sz="600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>1</a:t>
                </a:r>
              </a:p>
            </p:txBody>
          </p:sp>
          <p:sp>
            <p:nvSpPr>
              <p:cNvPr id="146" name="TextBox 146"/>
              <p:cNvSpPr txBox="1"/>
              <p:nvPr/>
            </p:nvSpPr>
            <p:spPr>
              <a:xfrm>
                <a:off x="9051417" y="3013710"/>
                <a:ext cx="37566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>2 × 3</a:t>
                </a:r>
              </a:p>
            </p:txBody>
          </p:sp>
          <p:sp>
            <p:nvSpPr>
              <p:cNvPr id="147" name="TextBox 147"/>
              <p:cNvSpPr txBox="1"/>
              <p:nvPr/>
            </p:nvSpPr>
            <p:spPr>
              <a:xfrm>
                <a:off x="8833333" y="3128010"/>
                <a:ext cx="81183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>linear map</a:t>
                </a:r>
              </a:p>
            </p:txBody>
          </p:sp>
        </p:grpSp>
        <p:grpSp>
          <p:nvGrpSpPr>
            <p:cNvPr id="210" name="Group 210"/>
            <p:cNvGrpSpPr/>
            <p:nvPr/>
          </p:nvGrpSpPr>
          <p:grpSpPr>
            <a:xfrm>
              <a:off x="10001250" y="1524000"/>
              <a:ext cx="4599607" cy="3619500"/>
              <a:chOff x="10001250" y="1524000"/>
              <a:chExt cx="4599607" cy="3619500"/>
            </a:xfrm>
          </p:grpSpPr>
          <p:sp>
            <p:nvSpPr>
              <p:cNvPr id="149" name="Rectangle 149"/>
              <p:cNvSpPr/>
              <p:nvPr/>
            </p:nvSpPr>
            <p:spPr>
              <a:xfrm>
                <a:off x="10001250" y="1524000"/>
                <a:ext cx="3238500" cy="3619500"/>
              </a:xfrm>
              <a:prstGeom prst="roundRect">
                <a:avLst>
                  <a:gd name="adj" fmla="val 2353"/>
                </a:avLst>
              </a:prstGeom>
              <a:solidFill>
                <a:srgbClr val="FFF0E5">
                  <a:alpha val="45000"/>
                </a:srgbClr>
              </a:solidFill>
              <a:ln w="11430">
                <a:solidFill>
                  <a:srgbClr val="D17835"/>
                </a:solidFill>
              </a:ln>
            </p:spPr>
          </p:sp>
          <p:sp>
            <p:nvSpPr>
              <p:cNvPr id="150" name="Ellipse 150"/>
              <p:cNvSpPr/>
              <p:nvPr/>
            </p:nvSpPr>
            <p:spPr>
              <a:xfrm>
                <a:off x="10163175" y="1971675"/>
                <a:ext cx="247650" cy="247650"/>
              </a:xfrm>
              <a:prstGeom prst="ellipse">
                <a:avLst/>
              </a:prstGeom>
              <a:solidFill>
                <a:srgbClr val="FFF0E5"/>
              </a:solidFill>
              <a:ln w="11430">
                <a:solidFill>
                  <a:srgbClr val="D17835"/>
                </a:solidFill>
              </a:ln>
            </p:spPr>
          </p:sp>
          <p:sp>
            <p:nvSpPr>
              <p:cNvPr id="151" name="TextBox 151"/>
              <p:cNvSpPr txBox="1"/>
              <p:nvPr/>
            </p:nvSpPr>
            <p:spPr>
              <a:xfrm>
                <a:off x="10173953" y="2044541"/>
                <a:ext cx="226095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820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>u</a:t>
                </a:r>
                <a:r>
                  <a:rPr lang="en-US" sz="520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>t−1</a:t>
                </a:r>
                <a:r>
                  <a:rPr lang="en-US" sz="520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>0</a:t>
                </a:r>
              </a:p>
            </p:txBody>
          </p:sp>
          <p:sp>
            <p:nvSpPr>
              <p:cNvPr id="152" name="Ellipse 152"/>
              <p:cNvSpPr/>
              <p:nvPr/>
            </p:nvSpPr>
            <p:spPr>
              <a:xfrm>
                <a:off x="10163175" y="2352675"/>
                <a:ext cx="247650" cy="247650"/>
              </a:xfrm>
              <a:prstGeom prst="ellipse">
                <a:avLst/>
              </a:prstGeom>
              <a:solidFill>
                <a:srgbClr val="FFF0E5"/>
              </a:solidFill>
              <a:ln w="11430">
                <a:solidFill>
                  <a:srgbClr val="D17835"/>
                </a:solidFill>
              </a:ln>
            </p:spPr>
          </p:sp>
          <p:sp>
            <p:nvSpPr>
              <p:cNvPr id="153" name="TextBox 153"/>
              <p:cNvSpPr txBox="1"/>
              <p:nvPr/>
            </p:nvSpPr>
            <p:spPr>
              <a:xfrm>
                <a:off x="10173953" y="2425541"/>
                <a:ext cx="226095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820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>u</a:t>
                </a:r>
                <a:r>
                  <a:rPr lang="en-US" sz="520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>t−1</a:t>
                </a:r>
                <a:r>
                  <a:rPr lang="en-US" sz="520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>1</a:t>
                </a:r>
              </a:p>
            </p:txBody>
          </p:sp>
          <p:sp>
            <p:nvSpPr>
              <p:cNvPr id="154" name="Ellipse 154"/>
              <p:cNvSpPr/>
              <p:nvPr/>
            </p:nvSpPr>
            <p:spPr>
              <a:xfrm>
                <a:off x="10915650" y="2057400"/>
                <a:ext cx="266700" cy="266700"/>
              </a:xfrm>
              <a:prstGeom prst="ellipse">
                <a:avLst/>
              </a:prstGeom>
              <a:solidFill>
                <a:srgbClr val="FFFFFF"/>
              </a:solidFill>
              <a:ln w="12382">
                <a:solidFill>
                  <a:srgbClr val="D17835"/>
                </a:solidFill>
              </a:ln>
            </p:spPr>
          </p:sp>
          <p:sp>
            <p:nvSpPr>
              <p:cNvPr id="155" name="TextBox 155"/>
              <p:cNvSpPr txBox="1"/>
              <p:nvPr/>
            </p:nvSpPr>
            <p:spPr>
              <a:xfrm>
                <a:off x="11002851" y="2115502"/>
                <a:ext cx="9229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>+</a:t>
                </a:r>
              </a:p>
            </p:txBody>
          </p:sp>
          <p:sp>
            <p:nvSpPr>
              <p:cNvPr id="156" name="Line 156"/>
              <p:cNvSpPr/>
              <p:nvPr/>
            </p:nvSpPr>
            <p:spPr>
              <a:xfrm>
                <a:off x="10410825" y="2095500"/>
                <a:ext cx="514350" cy="66675"/>
              </a:xfrm>
              <a:prstGeom prst="line">
                <a:avLst/>
              </a:prstGeom>
              <a:noFill/>
              <a:ln w="10478">
                <a:solidFill>
                  <a:srgbClr val="D17835"/>
                </a:solidFill>
                <a:tailEnd type="triangle" w="lg" len="lg"/>
              </a:ln>
            </p:spPr>
          </p:sp>
          <p:sp>
            <p:nvSpPr>
              <p:cNvPr id="157" name="TextBox 157"/>
              <p:cNvSpPr txBox="1"/>
              <p:nvPr/>
            </p:nvSpPr>
            <p:spPr>
              <a:xfrm>
                <a:off x="10642854" y="1889760"/>
                <a:ext cx="13991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i="1" dirty="0">
                    <a:solidFill>
                      <a:srgbClr val="D17835"/>
                    </a:solidFill>
                    <a:latin typeface="Segoe UI"/>
                    <a:ea typeface="Segoe UI"/>
                    <a:cs typeface="Segoe UI"/>
                  </a:rPr>
                  <a:t>η</a:t>
                </a:r>
                <a:r>
                  <a:rPr lang="en-US" sz="520" i="1" dirty="0">
                    <a:solidFill>
                      <a:srgbClr val="D17835"/>
                    </a:solidFill>
                    <a:latin typeface="Segoe UI"/>
                    <a:ea typeface="Segoe UI"/>
                    <a:cs typeface="Segoe UI"/>
                  </a:rPr>
                  <a:t>0</a:t>
                </a:r>
              </a:p>
            </p:txBody>
          </p:sp>
          <p:sp>
            <p:nvSpPr>
              <p:cNvPr id="158" name="Freeform 158"/>
              <p:cNvSpPr/>
              <p:nvPr/>
            </p:nvSpPr>
            <p:spPr>
              <a:xfrm>
                <a:off x="10410825" y="2238375"/>
                <a:ext cx="5143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514350" h="200025">
                    <a:moveTo>
                      <a:pt x="0" y="200025"/>
                    </a:moveTo>
                    <a:cubicBezTo>
                      <a:pt x="171450" y="161925"/>
                      <a:pt x="342900" y="95250"/>
                      <a:pt x="514350" y="0"/>
                    </a:cubicBezTo>
                  </a:path>
                </a:pathLst>
              </a:custGeom>
              <a:noFill/>
              <a:ln w="12382">
                <a:solidFill>
                  <a:srgbClr val="D17835"/>
                </a:solidFill>
                <a:tailEnd type="triangle" w="lg" len="lg"/>
              </a:ln>
            </p:spPr>
          </p:sp>
          <p:sp>
            <p:nvSpPr>
              <p:cNvPr id="159" name="TextBox 159"/>
              <p:cNvSpPr txBox="1"/>
              <p:nvPr/>
            </p:nvSpPr>
            <p:spPr>
              <a:xfrm>
                <a:off x="10614279" y="234696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i="1" dirty="0">
                    <a:solidFill>
                      <a:srgbClr val="D17832"/>
                    </a:solidFill>
                    <a:latin typeface="Segoe UI"/>
                    <a:ea typeface="Segoe UI"/>
                    <a:cs typeface="Segoe UI"/>
                  </a:rPr>
                  <a:t>κ</a:t>
                </a:r>
              </a:p>
            </p:txBody>
          </p:sp>
          <p:sp>
            <p:nvSpPr>
              <p:cNvPr id="160" name="TextBox 160"/>
              <p:cNvSpPr txBox="1"/>
              <p:nvPr/>
            </p:nvSpPr>
            <p:spPr>
              <a:xfrm>
                <a:off x="10614279" y="2461260"/>
                <a:ext cx="104370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rgbClr val="D17832"/>
                    </a:solidFill>
                    <a:latin typeface="Segoe UI"/>
                    <a:ea typeface="Segoe UI"/>
                    <a:cs typeface="Segoe UI"/>
                  </a:rPr>
                  <a:t>(u</a:t>
                </a:r>
                <a:r>
                  <a:rPr lang="en-US" sz="520" b="1" dirty="0">
                    <a:solidFill>
                      <a:srgbClr val="D17832"/>
                    </a:solidFill>
                    <a:latin typeface="Segoe UI"/>
                    <a:ea typeface="Segoe UI"/>
                    <a:cs typeface="Segoe UI"/>
                  </a:rPr>
                  <a:t>1</a:t>
                </a:r>
                <a:r>
                  <a:rPr lang="en-US" sz="1200" b="1" dirty="0">
                    <a:solidFill>
                      <a:srgbClr val="D17832"/>
                    </a:solidFill>
                    <a:latin typeface="Segoe UI"/>
                    <a:ea typeface="Segoe UI"/>
                    <a:cs typeface="Segoe UI"/>
                  </a:rPr>
                  <a:t xml:space="preserve"> → u</a:t>
                </a:r>
                <a:r>
                  <a:rPr lang="en-US" sz="520" b="1" dirty="0">
                    <a:solidFill>
                      <a:srgbClr val="D17832"/>
                    </a:solidFill>
                    <a:latin typeface="Segoe UI"/>
                    <a:ea typeface="Segoe UI"/>
                    <a:cs typeface="Segoe UI"/>
                  </a:rPr>
                  <a:t>0</a:t>
                </a:r>
                <a:r>
                  <a:rPr lang="en-US" sz="1200" b="1" dirty="0">
                    <a:solidFill>
                      <a:srgbClr val="D17832"/>
                    </a:solidFill>
                    <a:latin typeface="Segoe UI"/>
                    <a:ea typeface="Segoe UI"/>
                    <a:cs typeface="Segoe UI"/>
                  </a:rPr>
                  <a:t xml:space="preserve"> only)</a:t>
                </a:r>
              </a:p>
            </p:txBody>
          </p:sp>
          <p:sp>
            <p:nvSpPr>
              <p:cNvPr id="161" name="Line 161"/>
              <p:cNvSpPr/>
              <p:nvPr/>
            </p:nvSpPr>
            <p:spPr>
              <a:xfrm>
                <a:off x="10477500" y="1905000"/>
                <a:ext cx="476250" cy="209550"/>
              </a:xfrm>
              <a:prstGeom prst="line">
                <a:avLst/>
              </a:prstGeom>
              <a:noFill/>
              <a:ln w="9525">
                <a:solidFill>
                  <a:srgbClr val="1A1A1A"/>
                </a:solidFill>
                <a:tailEnd type="triangle" w="lg" len="lg"/>
              </a:ln>
            </p:spPr>
          </p:sp>
          <p:sp>
            <p:nvSpPr>
              <p:cNvPr id="162" name="TextBox 162"/>
              <p:cNvSpPr txBox="1"/>
              <p:nvPr/>
            </p:nvSpPr>
            <p:spPr>
              <a:xfrm>
                <a:off x="10614279" y="1708785"/>
                <a:ext cx="45350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>(Gx</a:t>
                </a:r>
                <a:r>
                  <a:rPr lang="en-US" sz="520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>t</a:t>
                </a:r>
                <a:r>
                  <a:rPr lang="en-US" sz="1200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>)</a:t>
                </a:r>
                <a:r>
                  <a:rPr lang="en-US" sz="520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>0</a:t>
                </a:r>
              </a:p>
            </p:txBody>
          </p:sp>
          <p:sp>
            <p:nvSpPr>
              <p:cNvPr id="163" name="Line 163"/>
              <p:cNvSpPr/>
              <p:nvPr/>
            </p:nvSpPr>
            <p:spPr>
              <a:xfrm>
                <a:off x="11182350" y="2190750"/>
                <a:ext cx="438150" cy="1"/>
              </a:xfrm>
              <a:prstGeom prst="line">
                <a:avLst/>
              </a:prstGeom>
              <a:noFill/>
              <a:ln w="11430">
                <a:solidFill>
                  <a:srgbClr val="D17835"/>
                </a:solidFill>
                <a:tailEnd type="triangle" w="lg" len="lg"/>
              </a:ln>
            </p:spPr>
          </p:sp>
          <p:sp>
            <p:nvSpPr>
              <p:cNvPr id="164" name="TextBox 164"/>
              <p:cNvSpPr txBox="1"/>
              <p:nvPr/>
            </p:nvSpPr>
            <p:spPr>
              <a:xfrm>
                <a:off x="11691747" y="2047399"/>
                <a:ext cx="170945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>ũ</a:t>
                </a:r>
                <a:r>
                  <a:rPr lang="en-US" sz="600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>t</a:t>
                </a:r>
                <a:r>
                  <a:rPr lang="en-US" sz="600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>0</a:t>
                </a:r>
              </a:p>
            </p:txBody>
          </p:sp>
          <p:sp>
            <p:nvSpPr>
              <p:cNvPr id="165" name="TextBox 165"/>
              <p:cNvSpPr txBox="1"/>
              <p:nvPr/>
            </p:nvSpPr>
            <p:spPr>
              <a:xfrm>
                <a:off x="11690604" y="2156460"/>
                <a:ext cx="119636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rgbClr val="C63D32"/>
                    </a:solidFill>
                    <a:latin typeface="Segoe UI"/>
                    <a:ea typeface="Segoe UI"/>
                    <a:cs typeface="Segoe UI"/>
                  </a:rPr>
                  <a:t>membrane = ũ</a:t>
                </a:r>
                <a:r>
                  <a:rPr lang="en-US" sz="520" b="1" dirty="0">
                    <a:solidFill>
                      <a:srgbClr val="C63D32"/>
                    </a:solidFill>
                    <a:latin typeface="Segoe UI"/>
                    <a:ea typeface="Segoe UI"/>
                    <a:cs typeface="Segoe UI"/>
                  </a:rPr>
                  <a:t>t</a:t>
                </a:r>
                <a:r>
                  <a:rPr lang="en-US" sz="520" b="1" dirty="0">
                    <a:solidFill>
                      <a:srgbClr val="C63D32"/>
                    </a:solidFill>
                    <a:latin typeface="Segoe UI"/>
                    <a:ea typeface="Segoe UI"/>
                    <a:cs typeface="Segoe UI"/>
                  </a:rPr>
                  <a:t>0</a:t>
                </a:r>
              </a:p>
            </p:txBody>
          </p:sp>
          <p:sp>
            <p:nvSpPr>
              <p:cNvPr id="166" name="TextBox 166"/>
              <p:cNvSpPr txBox="1"/>
              <p:nvPr/>
            </p:nvSpPr>
            <p:spPr>
              <a:xfrm>
                <a:off x="11690604" y="2270760"/>
                <a:ext cx="49228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C63D32"/>
                    </a:solidFill>
                    <a:latin typeface="Segoe UI"/>
                    <a:ea typeface="Segoe UI"/>
                    <a:cs typeface="Segoe UI"/>
                  </a:rPr>
                  <a:t>v</a:t>
                </a:r>
                <a:r>
                  <a:rPr lang="en-US" sz="520" dirty="0">
                    <a:solidFill>
                      <a:srgbClr val="C63D32"/>
                    </a:solidFill>
                    <a:latin typeface="Segoe UI"/>
                    <a:ea typeface="Segoe UI"/>
                    <a:cs typeface="Segoe UI"/>
                  </a:rPr>
                  <a:t>t</a:t>
                </a:r>
                <a:r>
                  <a:rPr lang="en-US" sz="1200" dirty="0">
                    <a:solidFill>
                      <a:srgbClr val="C63D32"/>
                    </a:solidFill>
                    <a:latin typeface="Segoe UI"/>
                    <a:ea typeface="Segoe UI"/>
                    <a:cs typeface="Segoe UI"/>
                  </a:rPr>
                  <a:t xml:space="preserve"> = ũ</a:t>
                </a:r>
                <a:r>
                  <a:rPr lang="en-US" sz="520" dirty="0">
                    <a:solidFill>
                      <a:srgbClr val="C63D32"/>
                    </a:solidFill>
                    <a:latin typeface="Segoe UI"/>
                    <a:ea typeface="Segoe UI"/>
                    <a:cs typeface="Segoe UI"/>
                  </a:rPr>
                  <a:t>t</a:t>
                </a:r>
                <a:r>
                  <a:rPr lang="en-US" sz="520" dirty="0">
                    <a:solidFill>
                      <a:srgbClr val="C63D32"/>
                    </a:solidFill>
                    <a:latin typeface="Segoe UI"/>
                    <a:ea typeface="Segoe UI"/>
                    <a:cs typeface="Segoe UI"/>
                  </a:rPr>
                  <a:t>0</a:t>
                </a:r>
              </a:p>
            </p:txBody>
          </p:sp>
          <p:sp>
            <p:nvSpPr>
              <p:cNvPr id="167" name="Line 167"/>
              <p:cNvSpPr/>
              <p:nvPr/>
            </p:nvSpPr>
            <p:spPr>
              <a:xfrm>
                <a:off x="11953875" y="2190750"/>
                <a:ext cx="428625" cy="1"/>
              </a:xfrm>
              <a:prstGeom prst="line">
                <a:avLst/>
              </a:prstGeom>
              <a:noFill/>
              <a:ln w="10478">
                <a:solidFill>
                  <a:srgbClr val="1A1A1A"/>
                </a:solidFill>
                <a:tailEnd type="triangle" w="lg" len="lg"/>
              </a:ln>
            </p:spPr>
          </p:sp>
          <p:sp>
            <p:nvSpPr>
              <p:cNvPr id="168" name="TextBox 168"/>
              <p:cNvSpPr txBox="1"/>
              <p:nvPr/>
            </p:nvSpPr>
            <p:spPr>
              <a:xfrm>
                <a:off x="12071604" y="1985010"/>
                <a:ext cx="31761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i="1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>v</a:t>
                </a:r>
                <a:r>
                  <a:rPr lang="en-US" sz="520" i="1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>t</a:t>
                </a:r>
                <a:r>
                  <a:rPr lang="en-US" sz="1200" i="1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>−θ</a:t>
                </a:r>
              </a:p>
            </p:txBody>
          </p:sp>
          <p:sp>
            <p:nvSpPr>
              <p:cNvPr id="169" name="Rectangle 169"/>
              <p:cNvSpPr/>
              <p:nvPr/>
            </p:nvSpPr>
            <p:spPr>
              <a:xfrm>
                <a:off x="12382500" y="2038350"/>
                <a:ext cx="342900" cy="304800"/>
              </a:xfrm>
              <a:prstGeom prst="roundRect">
                <a:avLst>
                  <a:gd name="adj" fmla="val 12500"/>
                </a:avLst>
              </a:prstGeom>
              <a:solidFill>
                <a:srgbClr val="FFFFFF"/>
              </a:solidFill>
              <a:ln w="12382">
                <a:solidFill>
                  <a:srgbClr val="1A1A1A"/>
                </a:solidFill>
              </a:ln>
            </p:spPr>
          </p:sp>
          <p:sp>
            <p:nvSpPr>
              <p:cNvPr id="170" name="TextBox 170"/>
              <p:cNvSpPr txBox="1"/>
              <p:nvPr/>
            </p:nvSpPr>
            <p:spPr>
              <a:xfrm>
                <a:off x="12512223" y="2131695"/>
                <a:ext cx="83454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00" b="1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>H</a:t>
                </a:r>
              </a:p>
            </p:txBody>
          </p:sp>
          <p:sp>
            <p:nvSpPr>
              <p:cNvPr id="171" name="Line 171"/>
              <p:cNvSpPr/>
              <p:nvPr/>
            </p:nvSpPr>
            <p:spPr>
              <a:xfrm>
                <a:off x="12725400" y="2190750"/>
                <a:ext cx="323850" cy="1"/>
              </a:xfrm>
              <a:prstGeom prst="line">
                <a:avLst/>
              </a:prstGeom>
              <a:noFill/>
              <a:ln w="13335">
                <a:solidFill>
                  <a:srgbClr val="C63D32"/>
                </a:solidFill>
                <a:tailEnd type="triangle" w="lg" len="lg"/>
              </a:ln>
            </p:spPr>
          </p:sp>
          <p:sp>
            <p:nvSpPr>
              <p:cNvPr id="172" name="TextBox 172"/>
              <p:cNvSpPr txBox="1"/>
              <p:nvPr/>
            </p:nvSpPr>
            <p:spPr>
              <a:xfrm>
                <a:off x="13063347" y="2047399"/>
                <a:ext cx="13235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b="1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>z</a:t>
                </a:r>
                <a:r>
                  <a:rPr lang="en-US" sz="600" b="1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>t</a:t>
                </a:r>
              </a:p>
            </p:txBody>
          </p:sp>
          <p:sp>
            <p:nvSpPr>
              <p:cNvPr id="173" name="Ellipse 173"/>
              <p:cNvSpPr/>
              <p:nvPr/>
            </p:nvSpPr>
            <p:spPr>
              <a:xfrm>
                <a:off x="10163175" y="3686175"/>
                <a:ext cx="247650" cy="247650"/>
              </a:xfrm>
              <a:prstGeom prst="ellipse">
                <a:avLst/>
              </a:prstGeom>
              <a:solidFill>
                <a:srgbClr val="FFF0E5"/>
              </a:solidFill>
              <a:ln w="11430">
                <a:solidFill>
                  <a:srgbClr val="D17835"/>
                </a:solidFill>
              </a:ln>
            </p:spPr>
          </p:sp>
          <p:sp>
            <p:nvSpPr>
              <p:cNvPr id="174" name="TextBox 174"/>
              <p:cNvSpPr txBox="1"/>
              <p:nvPr/>
            </p:nvSpPr>
            <p:spPr>
              <a:xfrm>
                <a:off x="10173953" y="3759041"/>
                <a:ext cx="226095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820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>u</a:t>
                </a:r>
                <a:r>
                  <a:rPr lang="en-US" sz="520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>t−1</a:t>
                </a:r>
                <a:r>
                  <a:rPr lang="en-US" sz="520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>1</a:t>
                </a:r>
              </a:p>
            </p:txBody>
          </p:sp>
          <p:sp>
            <p:nvSpPr>
              <p:cNvPr id="175" name="Ellipse 175"/>
              <p:cNvSpPr/>
              <p:nvPr/>
            </p:nvSpPr>
            <p:spPr>
              <a:xfrm>
                <a:off x="10915650" y="3676650"/>
                <a:ext cx="266700" cy="266700"/>
              </a:xfrm>
              <a:prstGeom prst="ellipse">
                <a:avLst/>
              </a:prstGeom>
              <a:solidFill>
                <a:srgbClr val="FFFFFF"/>
              </a:solidFill>
              <a:ln w="12382">
                <a:solidFill>
                  <a:srgbClr val="D17835"/>
                </a:solidFill>
              </a:ln>
            </p:spPr>
          </p:sp>
          <p:sp>
            <p:nvSpPr>
              <p:cNvPr id="176" name="TextBox 176"/>
              <p:cNvSpPr txBox="1"/>
              <p:nvPr/>
            </p:nvSpPr>
            <p:spPr>
              <a:xfrm>
                <a:off x="11002851" y="3734752"/>
                <a:ext cx="9229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>+</a:t>
                </a:r>
              </a:p>
            </p:txBody>
          </p:sp>
          <p:sp>
            <p:nvSpPr>
              <p:cNvPr id="177" name="Line 177"/>
              <p:cNvSpPr/>
              <p:nvPr/>
            </p:nvSpPr>
            <p:spPr>
              <a:xfrm>
                <a:off x="10410825" y="3810000"/>
                <a:ext cx="514350" cy="1"/>
              </a:xfrm>
              <a:prstGeom prst="line">
                <a:avLst/>
              </a:prstGeom>
              <a:noFill/>
              <a:ln w="10478">
                <a:solidFill>
                  <a:srgbClr val="D17835"/>
                </a:solidFill>
                <a:tailEnd type="triangle" w="lg" len="lg"/>
              </a:ln>
            </p:spPr>
          </p:sp>
          <p:sp>
            <p:nvSpPr>
              <p:cNvPr id="178" name="TextBox 178"/>
              <p:cNvSpPr txBox="1"/>
              <p:nvPr/>
            </p:nvSpPr>
            <p:spPr>
              <a:xfrm>
                <a:off x="10642854" y="3604260"/>
                <a:ext cx="13991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i="1" dirty="0">
                    <a:solidFill>
                      <a:srgbClr val="D17835"/>
                    </a:solidFill>
                    <a:latin typeface="Segoe UI"/>
                    <a:ea typeface="Segoe UI"/>
                    <a:cs typeface="Segoe UI"/>
                  </a:rPr>
                  <a:t>η</a:t>
                </a:r>
                <a:r>
                  <a:rPr lang="en-US" sz="520" i="1" dirty="0">
                    <a:solidFill>
                      <a:srgbClr val="D17835"/>
                    </a:solidFill>
                    <a:latin typeface="Segoe UI"/>
                    <a:ea typeface="Segoe UI"/>
                    <a:cs typeface="Segoe UI"/>
                  </a:rPr>
                  <a:t>1</a:t>
                </a:r>
              </a:p>
            </p:txBody>
          </p:sp>
          <p:sp>
            <p:nvSpPr>
              <p:cNvPr id="179" name="Line 179"/>
              <p:cNvSpPr/>
              <p:nvPr/>
            </p:nvSpPr>
            <p:spPr>
              <a:xfrm flipV="1">
                <a:off x="10477500" y="3838575"/>
                <a:ext cx="476250" cy="161925"/>
              </a:xfrm>
              <a:prstGeom prst="line">
                <a:avLst/>
              </a:prstGeom>
              <a:noFill/>
              <a:ln w="9525">
                <a:solidFill>
                  <a:srgbClr val="1A1A1A"/>
                </a:solidFill>
                <a:tailEnd type="triangle" w="lg" len="lg"/>
              </a:ln>
            </p:spPr>
          </p:sp>
          <p:sp>
            <p:nvSpPr>
              <p:cNvPr id="180" name="TextBox 180"/>
              <p:cNvSpPr txBox="1"/>
              <p:nvPr/>
            </p:nvSpPr>
            <p:spPr>
              <a:xfrm>
                <a:off x="10614279" y="3985260"/>
                <a:ext cx="45350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>(Gx</a:t>
                </a:r>
                <a:r>
                  <a:rPr lang="en-US" sz="520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>t</a:t>
                </a:r>
                <a:r>
                  <a:rPr lang="en-US" sz="1200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>)</a:t>
                </a:r>
                <a:r>
                  <a:rPr lang="en-US" sz="520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>1</a:t>
                </a:r>
              </a:p>
            </p:txBody>
          </p:sp>
          <p:sp>
            <p:nvSpPr>
              <p:cNvPr id="181" name="Line 181"/>
              <p:cNvSpPr/>
              <p:nvPr/>
            </p:nvSpPr>
            <p:spPr>
              <a:xfrm>
                <a:off x="11182350" y="3810000"/>
                <a:ext cx="438150" cy="1"/>
              </a:xfrm>
              <a:prstGeom prst="line">
                <a:avLst/>
              </a:prstGeom>
              <a:noFill/>
              <a:ln w="11430">
                <a:solidFill>
                  <a:srgbClr val="D17835"/>
                </a:solidFill>
                <a:tailEnd type="triangle" w="lg" len="lg"/>
              </a:ln>
            </p:spPr>
          </p:sp>
          <p:sp>
            <p:nvSpPr>
              <p:cNvPr id="182" name="TextBox 182"/>
              <p:cNvSpPr txBox="1"/>
              <p:nvPr/>
            </p:nvSpPr>
            <p:spPr>
              <a:xfrm>
                <a:off x="11691747" y="3666649"/>
                <a:ext cx="170945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>ũ</a:t>
                </a:r>
                <a:r>
                  <a:rPr lang="en-US" sz="600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>t</a:t>
                </a:r>
                <a:r>
                  <a:rPr lang="en-US" sz="600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>1</a:t>
                </a:r>
              </a:p>
            </p:txBody>
          </p:sp>
          <p:sp>
            <p:nvSpPr>
              <p:cNvPr id="183" name="TextBox 183"/>
              <p:cNvSpPr txBox="1"/>
              <p:nvPr/>
            </p:nvSpPr>
            <p:spPr>
              <a:xfrm>
                <a:off x="11690604" y="3832860"/>
                <a:ext cx="140147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6E6E6E"/>
                    </a:solidFill>
                    <a:latin typeface="Segoe UI"/>
                    <a:ea typeface="Segoe UI"/>
                    <a:cs typeface="Segoe UI"/>
                  </a:rPr>
                  <a:t>no threshold here</a:t>
                </a:r>
              </a:p>
            </p:txBody>
          </p:sp>
          <p:sp>
            <p:nvSpPr>
              <p:cNvPr id="184" name="Ellipse 184"/>
              <p:cNvSpPr/>
              <p:nvPr/>
            </p:nvSpPr>
            <p:spPr>
              <a:xfrm>
                <a:off x="12249150" y="2438400"/>
                <a:ext cx="266700" cy="266700"/>
              </a:xfrm>
              <a:prstGeom prst="ellipse">
                <a:avLst/>
              </a:prstGeom>
              <a:solidFill>
                <a:srgbClr val="FFFFFF"/>
              </a:solidFill>
              <a:ln w="12382">
                <a:solidFill>
                  <a:srgbClr val="C63D32"/>
                </a:solidFill>
              </a:ln>
            </p:spPr>
          </p:sp>
          <p:sp>
            <p:nvSpPr>
              <p:cNvPr id="185" name="TextBox 185"/>
              <p:cNvSpPr txBox="1"/>
              <p:nvPr/>
            </p:nvSpPr>
            <p:spPr>
              <a:xfrm>
                <a:off x="12333055" y="2488406"/>
                <a:ext cx="9889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b="1" dirty="0">
                    <a:solidFill>
                      <a:srgbClr val="C63D32"/>
                    </a:solidFill>
                    <a:latin typeface="Segoe UI"/>
                    <a:ea typeface="Segoe UI"/>
                    <a:cs typeface="Segoe UI"/>
                  </a:rPr>
                  <a:t>−</a:t>
                </a:r>
              </a:p>
            </p:txBody>
          </p:sp>
          <p:sp>
            <p:nvSpPr>
              <p:cNvPr id="186" name="Ellipse 186"/>
              <p:cNvSpPr/>
              <p:nvPr/>
            </p:nvSpPr>
            <p:spPr>
              <a:xfrm>
                <a:off x="12249150" y="3676650"/>
                <a:ext cx="266700" cy="266700"/>
              </a:xfrm>
              <a:prstGeom prst="ellipse">
                <a:avLst/>
              </a:prstGeom>
              <a:solidFill>
                <a:srgbClr val="FFFFFF"/>
              </a:solidFill>
              <a:ln w="12382">
                <a:solidFill>
                  <a:srgbClr val="C63D32"/>
                </a:solidFill>
              </a:ln>
            </p:spPr>
          </p:sp>
          <p:sp>
            <p:nvSpPr>
              <p:cNvPr id="187" name="TextBox 187"/>
              <p:cNvSpPr txBox="1"/>
              <p:nvPr/>
            </p:nvSpPr>
            <p:spPr>
              <a:xfrm>
                <a:off x="12333055" y="3726656"/>
                <a:ext cx="9889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b="1" dirty="0">
                    <a:solidFill>
                      <a:srgbClr val="C63D32"/>
                    </a:solidFill>
                    <a:latin typeface="Segoe UI"/>
                    <a:ea typeface="Segoe UI"/>
                    <a:cs typeface="Segoe UI"/>
                  </a:rPr>
                  <a:t>−</a:t>
                </a:r>
              </a:p>
            </p:txBody>
          </p:sp>
          <p:sp>
            <p:nvSpPr>
              <p:cNvPr id="188" name="Freeform 188"/>
              <p:cNvSpPr/>
              <p:nvPr/>
            </p:nvSpPr>
            <p:spPr>
              <a:xfrm>
                <a:off x="11887200" y="2247900"/>
                <a:ext cx="371475" cy="276225"/>
              </a:xfrm>
              <a:custGeom>
                <a:avLst/>
                <a:gdLst/>
                <a:ahLst/>
                <a:cxnLst/>
                <a:rect l="l" t="t" r="r" b="b"/>
                <a:pathLst>
                  <a:path w="371475" h="276225">
                    <a:moveTo>
                      <a:pt x="0" y="0"/>
                    </a:moveTo>
                    <a:cubicBezTo>
                      <a:pt x="107950" y="88900"/>
                      <a:pt x="231775" y="180975"/>
                      <a:pt x="371475" y="276225"/>
                    </a:cubicBezTo>
                  </a:path>
                </a:pathLst>
              </a:custGeom>
              <a:noFill/>
              <a:ln w="10478">
                <a:solidFill>
                  <a:srgbClr val="D17835"/>
                </a:solidFill>
                <a:tailEnd type="triangle" w="lg" len="lg"/>
              </a:ln>
            </p:spPr>
          </p:sp>
          <p:sp>
            <p:nvSpPr>
              <p:cNvPr id="189" name="Line 189"/>
              <p:cNvSpPr/>
              <p:nvPr/>
            </p:nvSpPr>
            <p:spPr>
              <a:xfrm>
                <a:off x="11887200" y="3810000"/>
                <a:ext cx="361950" cy="1"/>
              </a:xfrm>
              <a:prstGeom prst="line">
                <a:avLst/>
              </a:prstGeom>
              <a:noFill/>
              <a:ln w="10478">
                <a:solidFill>
                  <a:srgbClr val="D17835"/>
                </a:solidFill>
                <a:tailEnd type="triangle" w="lg" len="lg"/>
              </a:ln>
            </p:spPr>
          </p:sp>
          <p:sp>
            <p:nvSpPr>
              <p:cNvPr id="190" name="Line 190"/>
              <p:cNvSpPr/>
              <p:nvPr/>
            </p:nvSpPr>
            <p:spPr>
              <a:xfrm>
                <a:off x="12515850" y="2571750"/>
                <a:ext cx="533400" cy="1"/>
              </a:xfrm>
              <a:prstGeom prst="line">
                <a:avLst/>
              </a:prstGeom>
              <a:noFill/>
              <a:ln w="11430">
                <a:solidFill>
                  <a:srgbClr val="C63D32"/>
                </a:solidFill>
                <a:tailEnd type="triangle" w="lg" len="lg"/>
              </a:ln>
            </p:spPr>
          </p:sp>
          <p:sp>
            <p:nvSpPr>
              <p:cNvPr id="191" name="TextBox 191"/>
              <p:cNvSpPr txBox="1"/>
              <p:nvPr/>
            </p:nvSpPr>
            <p:spPr>
              <a:xfrm>
                <a:off x="13063347" y="2428399"/>
                <a:ext cx="170945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>u</a:t>
                </a:r>
                <a:r>
                  <a:rPr lang="en-US" sz="600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>t</a:t>
                </a:r>
                <a:r>
                  <a:rPr lang="en-US" sz="600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>0</a:t>
                </a:r>
              </a:p>
            </p:txBody>
          </p:sp>
          <p:sp>
            <p:nvSpPr>
              <p:cNvPr id="192" name="Line 192"/>
              <p:cNvSpPr/>
              <p:nvPr/>
            </p:nvSpPr>
            <p:spPr>
              <a:xfrm>
                <a:off x="12515850" y="3810000"/>
                <a:ext cx="533400" cy="1"/>
              </a:xfrm>
              <a:prstGeom prst="line">
                <a:avLst/>
              </a:prstGeom>
              <a:noFill/>
              <a:ln w="11430">
                <a:solidFill>
                  <a:srgbClr val="C63D32"/>
                </a:solidFill>
                <a:tailEnd type="triangle" w="lg" len="lg"/>
              </a:ln>
            </p:spPr>
          </p:sp>
          <p:sp>
            <p:nvSpPr>
              <p:cNvPr id="193" name="TextBox 193"/>
              <p:cNvSpPr txBox="1"/>
              <p:nvPr/>
            </p:nvSpPr>
            <p:spPr>
              <a:xfrm>
                <a:off x="13063347" y="3666649"/>
                <a:ext cx="170945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>u</a:t>
                </a:r>
                <a:r>
                  <a:rPr lang="en-US" sz="600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>t</a:t>
                </a:r>
                <a:r>
                  <a:rPr lang="en-US" sz="600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>1</a:t>
                </a:r>
              </a:p>
            </p:txBody>
          </p:sp>
          <p:sp>
            <p:nvSpPr>
              <p:cNvPr id="194" name="Rectangle 194"/>
              <p:cNvSpPr/>
              <p:nvPr/>
            </p:nvSpPr>
            <p:spPr>
              <a:xfrm>
                <a:off x="12172950" y="3048000"/>
                <a:ext cx="609600" cy="381000"/>
              </a:xfrm>
              <a:prstGeom prst="roundRect">
                <a:avLst>
                  <a:gd name="adj" fmla="val 10000"/>
                </a:avLst>
              </a:prstGeom>
              <a:solidFill>
                <a:srgbClr val="FFF6F4"/>
              </a:solidFill>
              <a:ln w="11430">
                <a:solidFill>
                  <a:srgbClr val="C63D32"/>
                </a:solidFill>
              </a:ln>
            </p:spPr>
          </p:sp>
          <p:sp>
            <p:nvSpPr>
              <p:cNvPr id="195" name="TextBox 195"/>
              <p:cNvSpPr txBox="1"/>
              <p:nvPr/>
            </p:nvSpPr>
            <p:spPr>
              <a:xfrm>
                <a:off x="12235434" y="3130391"/>
                <a:ext cx="484632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820" dirty="0">
                    <a:solidFill>
                      <a:srgbClr val="C63D32"/>
                    </a:solidFill>
                    <a:latin typeface="Segoe UI"/>
                    <a:ea typeface="Segoe UI"/>
                    <a:cs typeface="Segoe UI"/>
                  </a:rPr>
                  <a:t>θ[1, λ</a:t>
                </a:r>
                <a:r>
                  <a:rPr lang="en-US" sz="600" dirty="0">
                    <a:solidFill>
                      <a:srgbClr val="C63D32"/>
                    </a:solidFill>
                    <a:latin typeface="Segoe UI"/>
                    <a:ea typeface="Segoe UI"/>
                    <a:cs typeface="Segoe UI"/>
                  </a:rPr>
                  <a:t>j</a:t>
                </a:r>
                <a:r>
                  <a:rPr lang="en-US" sz="820" dirty="0">
                    <a:solidFill>
                      <a:srgbClr val="C63D32"/>
                    </a:solidFill>
                    <a:latin typeface="Segoe UI"/>
                    <a:ea typeface="Segoe UI"/>
                    <a:cs typeface="Segoe UI"/>
                  </a:rPr>
                  <a:t>]</a:t>
                </a:r>
                <a:r>
                  <a:rPr lang="en-US" sz="600" dirty="0">
                    <a:solidFill>
                      <a:srgbClr val="C63D32"/>
                    </a:solidFill>
                    <a:latin typeface="Segoe UI"/>
                    <a:ea typeface="Segoe UI"/>
                    <a:cs typeface="Segoe UI"/>
                  </a:rPr>
                  <a:t>T</a:t>
                </a:r>
              </a:p>
            </p:txBody>
          </p:sp>
          <p:sp>
            <p:nvSpPr>
              <p:cNvPr id="196" name="TextBox 196"/>
              <p:cNvSpPr txBox="1"/>
              <p:nvPr/>
            </p:nvSpPr>
            <p:spPr>
              <a:xfrm>
                <a:off x="12172645" y="3223260"/>
                <a:ext cx="61021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rgbClr val="C63D32"/>
                    </a:solidFill>
                    <a:latin typeface="Segoe UI"/>
                    <a:ea typeface="Segoe UI"/>
                    <a:cs typeface="Segoe UI"/>
                  </a:rPr>
                  <a:t>(Eq. 5)</a:t>
                </a:r>
              </a:p>
            </p:txBody>
          </p:sp>
          <p:sp>
            <p:nvSpPr>
              <p:cNvPr id="197" name="Line 197"/>
              <p:cNvSpPr/>
              <p:nvPr/>
            </p:nvSpPr>
            <p:spPr>
              <a:xfrm>
                <a:off x="12477750" y="2343150"/>
                <a:ext cx="1" cy="704850"/>
              </a:xfrm>
              <a:prstGeom prst="line">
                <a:avLst/>
              </a:prstGeom>
              <a:noFill/>
              <a:ln w="12382">
                <a:solidFill>
                  <a:srgbClr val="C63D32"/>
                </a:solidFill>
                <a:tailEnd type="triangle" w="lg" len="lg"/>
              </a:ln>
            </p:spPr>
          </p:sp>
          <p:sp>
            <p:nvSpPr>
              <p:cNvPr id="198" name="Line 198"/>
              <p:cNvSpPr/>
              <p:nvPr/>
            </p:nvSpPr>
            <p:spPr>
              <a:xfrm flipV="1">
                <a:off x="12287250" y="2705100"/>
                <a:ext cx="1" cy="342900"/>
              </a:xfrm>
              <a:prstGeom prst="line">
                <a:avLst/>
              </a:prstGeom>
              <a:noFill/>
              <a:ln w="12382">
                <a:solidFill>
                  <a:srgbClr val="C63D32"/>
                </a:solidFill>
                <a:tailEnd type="triangle" w="lg" len="lg"/>
              </a:ln>
            </p:spPr>
          </p:sp>
          <p:sp>
            <p:nvSpPr>
              <p:cNvPr id="199" name="TextBox 199"/>
              <p:cNvSpPr txBox="1"/>
              <p:nvPr/>
            </p:nvSpPr>
            <p:spPr>
              <a:xfrm>
                <a:off x="11804904" y="2775585"/>
                <a:ext cx="29630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i="1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>θ z</a:t>
                </a:r>
                <a:r>
                  <a:rPr lang="en-US" sz="600" b="1" i="1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>t</a:t>
                </a:r>
              </a:p>
            </p:txBody>
          </p:sp>
          <p:sp>
            <p:nvSpPr>
              <p:cNvPr id="200" name="Line 200"/>
              <p:cNvSpPr/>
              <p:nvPr/>
            </p:nvSpPr>
            <p:spPr>
              <a:xfrm>
                <a:off x="12668250" y="3429000"/>
                <a:ext cx="1" cy="247650"/>
              </a:xfrm>
              <a:prstGeom prst="line">
                <a:avLst/>
              </a:prstGeom>
              <a:noFill/>
              <a:ln w="12382">
                <a:solidFill>
                  <a:srgbClr val="C63D32"/>
                </a:solidFill>
                <a:tailEnd type="triangle" w="lg" len="lg"/>
              </a:ln>
            </p:spPr>
          </p:sp>
          <p:sp>
            <p:nvSpPr>
              <p:cNvPr id="201" name="TextBox 201"/>
              <p:cNvSpPr txBox="1"/>
              <p:nvPr/>
            </p:nvSpPr>
            <p:spPr>
              <a:xfrm>
                <a:off x="12757404" y="3451860"/>
                <a:ext cx="46592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i="1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>λ</a:t>
                </a:r>
                <a:r>
                  <a:rPr lang="en-US" sz="600" b="1" i="1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>j</a:t>
                </a:r>
                <a:r>
                  <a:rPr lang="en-US" sz="1200" b="1" i="1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 xml:space="preserve"> θ z</a:t>
                </a:r>
                <a:r>
                  <a:rPr lang="en-US" sz="600" b="1" i="1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>t</a:t>
                </a:r>
              </a:p>
            </p:txBody>
          </p:sp>
          <p:sp>
            <p:nvSpPr>
              <p:cNvPr id="202" name="TextBox 202"/>
              <p:cNvSpPr txBox="1"/>
              <p:nvPr/>
            </p:nvSpPr>
            <p:spPr>
              <a:xfrm>
                <a:off x="13138404" y="3156585"/>
                <a:ext cx="86029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rgbClr val="C63D32"/>
                    </a:solidFill>
                    <a:latin typeface="Segoe UI"/>
                    <a:ea typeface="Segoe UI"/>
                    <a:cs typeface="Segoe UI"/>
                  </a:rPr>
                  <a:t>projective</a:t>
                </a:r>
              </a:p>
            </p:txBody>
          </p:sp>
          <p:sp>
            <p:nvSpPr>
              <p:cNvPr id="203" name="TextBox 203"/>
              <p:cNvSpPr txBox="1"/>
              <p:nvPr/>
            </p:nvSpPr>
            <p:spPr>
              <a:xfrm>
                <a:off x="13138404" y="3270885"/>
                <a:ext cx="146245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rgbClr val="C63D32"/>
                    </a:solidFill>
                    <a:latin typeface="Segoe UI"/>
                    <a:ea typeface="Segoe UI"/>
                    <a:cs typeface="Segoe UI"/>
                  </a:rPr>
                  <a:t>fast-state reset</a:t>
                </a:r>
              </a:p>
            </p:txBody>
          </p:sp>
          <p:sp>
            <p:nvSpPr>
              <p:cNvPr id="204" name="Freeform 204"/>
              <p:cNvSpPr/>
              <p:nvPr/>
            </p:nvSpPr>
            <p:spPr>
              <a:xfrm>
                <a:off x="10287000" y="2219325"/>
                <a:ext cx="2857500" cy="2114550"/>
              </a:xfrm>
              <a:custGeom>
                <a:avLst/>
                <a:gdLst/>
                <a:ahLst/>
                <a:cxnLst/>
                <a:rect l="l" t="t" r="r" b="b"/>
                <a:pathLst>
                  <a:path w="2857500" h="2114550">
                    <a:moveTo>
                      <a:pt x="2857500" y="428625"/>
                    </a:moveTo>
                    <a:lnTo>
                      <a:pt x="2857500" y="2114550"/>
                    </a:lnTo>
                    <a:lnTo>
                      <a:pt x="0" y="2114550"/>
                    </a:lnTo>
                    <a:lnTo>
                      <a:pt x="0" y="0"/>
                    </a:lnTo>
                  </a:path>
                </a:pathLst>
              </a:custGeom>
              <a:noFill/>
              <a:ln w="7620">
                <a:solidFill>
                  <a:srgbClr val="6E6E6E">
                    <a:alpha val="70000"/>
                  </a:srgbClr>
                </a:solidFill>
                <a:custDash>
                  <a:ds d="312500" sp="250000"/>
                </a:custDash>
              </a:ln>
            </p:spPr>
          </p:sp>
          <p:sp>
            <p:nvSpPr>
              <p:cNvPr id="205" name="Freeform 205"/>
              <p:cNvSpPr/>
              <p:nvPr/>
            </p:nvSpPr>
            <p:spPr>
              <a:xfrm>
                <a:off x="10287000" y="3733800"/>
                <a:ext cx="2857500" cy="742950"/>
              </a:xfrm>
              <a:custGeom>
                <a:avLst/>
                <a:gdLst/>
                <a:ahLst/>
                <a:cxnLst/>
                <a:rect l="l" t="t" r="r" b="b"/>
                <a:pathLst>
                  <a:path w="2857500" h="742950">
                    <a:moveTo>
                      <a:pt x="2857500" y="0"/>
                    </a:moveTo>
                    <a:lnTo>
                      <a:pt x="2857500" y="742950"/>
                    </a:lnTo>
                    <a:lnTo>
                      <a:pt x="0" y="742950"/>
                    </a:lnTo>
                    <a:lnTo>
                      <a:pt x="0" y="200025"/>
                    </a:lnTo>
                  </a:path>
                </a:pathLst>
              </a:custGeom>
              <a:noFill/>
              <a:ln w="7620">
                <a:solidFill>
                  <a:srgbClr val="6E6E6E">
                    <a:alpha val="70000"/>
                  </a:srgbClr>
                </a:solidFill>
                <a:custDash>
                  <a:ds d="312500" sp="250000"/>
                </a:custDash>
              </a:ln>
            </p:spPr>
          </p:sp>
          <p:sp>
            <p:nvSpPr>
              <p:cNvPr id="206" name="TextBox 206"/>
              <p:cNvSpPr txBox="1"/>
              <p:nvPr/>
            </p:nvSpPr>
            <p:spPr>
              <a:xfrm>
                <a:off x="11709654" y="4175760"/>
                <a:ext cx="237881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i="1" dirty="0">
                    <a:solidFill>
                      <a:srgbClr val="6E6E6E"/>
                    </a:solidFill>
                    <a:latin typeface="Segoe UI"/>
                    <a:ea typeface="Segoe UI"/>
                    <a:cs typeface="Segoe UI"/>
                  </a:rPr>
                  <a:t>t+1 recurrence (gray dashed)</a:t>
                </a:r>
              </a:p>
            </p:txBody>
          </p:sp>
          <p:sp>
            <p:nvSpPr>
              <p:cNvPr id="207" name="Rectangle 207"/>
              <p:cNvSpPr/>
              <p:nvPr/>
            </p:nvSpPr>
            <p:spPr>
              <a:xfrm>
                <a:off x="10287000" y="4667250"/>
                <a:ext cx="2762250" cy="381000"/>
              </a:xfrm>
              <a:prstGeom prst="roundRect">
                <a:avLst>
                  <a:gd name="adj" fmla="val 10000"/>
                </a:avLst>
              </a:prstGeom>
              <a:solidFill>
                <a:srgbClr val="FFF6F4">
                  <a:alpha val="60000"/>
                </a:srgbClr>
              </a:solidFill>
              <a:ln w="6668">
                <a:solidFill>
                  <a:srgbClr val="C63D32"/>
                </a:solidFill>
              </a:ln>
            </p:spPr>
          </p:sp>
          <p:sp>
            <p:nvSpPr>
              <p:cNvPr id="208" name="TextBox 208"/>
              <p:cNvSpPr txBox="1"/>
              <p:nvPr/>
            </p:nvSpPr>
            <p:spPr>
              <a:xfrm>
                <a:off x="10471404" y="4690110"/>
                <a:ext cx="72608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rgbClr val="C63D32"/>
                    </a:solidFill>
                    <a:latin typeface="Segoe UI"/>
                    <a:ea typeface="Segoe UI"/>
                    <a:cs typeface="Segoe UI"/>
                  </a:rPr>
                  <a:t>Δx</a:t>
                </a:r>
                <a:r>
                  <a:rPr lang="en-US" sz="600" b="1" dirty="0">
                    <a:solidFill>
                      <a:srgbClr val="C63D32"/>
                    </a:solidFill>
                    <a:latin typeface="Segoe UI"/>
                    <a:ea typeface="Segoe UI"/>
                    <a:cs typeface="Segoe UI"/>
                  </a:rPr>
                  <a:t>reset</a:t>
                </a:r>
                <a:r>
                  <a:rPr lang="en-US" sz="1200" b="1" dirty="0">
                    <a:solidFill>
                      <a:srgbClr val="C63D32"/>
                    </a:solidFill>
                    <a:latin typeface="Segoe UI"/>
                    <a:ea typeface="Segoe UI"/>
                    <a:cs typeface="Segoe UI"/>
                  </a:rPr>
                  <a:t xml:space="preserve"> = 0</a:t>
                </a:r>
              </a:p>
            </p:txBody>
          </p:sp>
          <p:sp>
            <p:nvSpPr>
              <p:cNvPr id="209" name="TextBox 209"/>
              <p:cNvSpPr txBox="1"/>
              <p:nvPr/>
            </p:nvSpPr>
            <p:spPr>
              <a:xfrm>
                <a:off x="10471404" y="4842510"/>
                <a:ext cx="164404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rgbClr val="C63D32"/>
                    </a:solidFill>
                    <a:latin typeface="Segoe UI"/>
                    <a:ea typeface="Segoe UI"/>
                    <a:cs typeface="Segoe UI"/>
                  </a:rPr>
                  <a:t>Δu</a:t>
                </a:r>
                <a:r>
                  <a:rPr lang="en-US" sz="600" b="1" dirty="0">
                    <a:solidFill>
                      <a:srgbClr val="C63D32"/>
                    </a:solidFill>
                    <a:latin typeface="Segoe UI"/>
                    <a:ea typeface="Segoe UI"/>
                    <a:cs typeface="Segoe UI"/>
                  </a:rPr>
                  <a:t>reset</a:t>
                </a:r>
                <a:r>
                  <a:rPr lang="en-US" sz="1200" b="1" dirty="0">
                    <a:solidFill>
                      <a:srgbClr val="C63D32"/>
                    </a:solidFill>
                    <a:latin typeface="Segoe UI"/>
                    <a:ea typeface="Segoe UI"/>
                    <a:cs typeface="Segoe UI"/>
                  </a:rPr>
                  <a:t xml:space="preserve"> = −z</a:t>
                </a:r>
                <a:r>
                  <a:rPr lang="en-US" sz="520" b="1" dirty="0">
                    <a:solidFill>
                      <a:srgbClr val="C63D32"/>
                    </a:solidFill>
                    <a:latin typeface="Segoe UI"/>
                    <a:ea typeface="Segoe UI"/>
                    <a:cs typeface="Segoe UI"/>
                  </a:rPr>
                  <a:t>t</a:t>
                </a:r>
                <a:r>
                  <a:rPr lang="en-US" sz="1200" b="1" dirty="0">
                    <a:solidFill>
                      <a:srgbClr val="C63D32"/>
                    </a:solidFill>
                    <a:latin typeface="Segoe UI"/>
                    <a:ea typeface="Segoe UI"/>
                    <a:cs typeface="Segoe UI"/>
                  </a:rPr>
                  <a:t xml:space="preserve"> θ [1, λ</a:t>
                </a:r>
                <a:r>
                  <a:rPr lang="en-US" sz="520" b="1" dirty="0">
                    <a:solidFill>
                      <a:srgbClr val="C63D32"/>
                    </a:solidFill>
                    <a:latin typeface="Segoe UI"/>
                    <a:ea typeface="Segoe UI"/>
                    <a:cs typeface="Segoe UI"/>
                  </a:rPr>
                  <a:t>j</a:t>
                </a:r>
                <a:r>
                  <a:rPr lang="en-US" sz="1200" b="1" dirty="0">
                    <a:solidFill>
                      <a:srgbClr val="C63D32"/>
                    </a:solidFill>
                    <a:latin typeface="Segoe UI"/>
                    <a:ea typeface="Segoe UI"/>
                    <a:cs typeface="Segoe UI"/>
                  </a:rPr>
                  <a:t>]</a:t>
                </a:r>
                <a:r>
                  <a:rPr lang="en-US" sz="520" b="1" dirty="0">
                    <a:solidFill>
                      <a:srgbClr val="C63D32"/>
                    </a:solidFill>
                    <a:latin typeface="Segoe UI"/>
                    <a:ea typeface="Segoe UI"/>
                    <a:cs typeface="Segoe UI"/>
                  </a:rPr>
                  <a:t>T</a:t>
                </a:r>
              </a:p>
            </p:txBody>
          </p:sp>
        </p:grpSp>
      </p:grpSp>
      <p:grpSp>
        <p:nvGrpSpPr>
          <p:cNvPr id="256" name="Group 256"/>
          <p:cNvGrpSpPr/>
          <p:nvPr/>
        </p:nvGrpSpPr>
        <p:grpSpPr>
          <a:xfrm>
            <a:off x="13099923" y="346710"/>
            <a:ext cx="3999891" cy="5425821"/>
            <a:chOff x="13099923" y="346710"/>
            <a:chExt cx="3999891" cy="5425821"/>
          </a:xfrm>
        </p:grpSpPr>
        <p:sp>
          <p:nvSpPr>
            <p:cNvPr id="212" name="TextBox 212"/>
            <p:cNvSpPr txBox="1"/>
            <p:nvPr/>
          </p:nvSpPr>
          <p:spPr>
            <a:xfrm>
              <a:off x="13954817" y="346710"/>
              <a:ext cx="25703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000000"/>
                  </a:solidFill>
                  <a:latin typeface="Segoe UI"/>
                  <a:ea typeface="Segoe UI"/>
                  <a:cs typeface="Segoe UI"/>
                </a:rPr>
                <a:t>(c) Projective fast-state reset</a:t>
              </a:r>
            </a:p>
          </p:txBody>
        </p:sp>
        <p:sp>
          <p:nvSpPr>
            <p:cNvPr id="213" name="Rectangle 213"/>
            <p:cNvSpPr/>
            <p:nvPr/>
          </p:nvSpPr>
          <p:spPr>
            <a:xfrm>
              <a:off x="13716000" y="762000"/>
              <a:ext cx="3048000" cy="4000500"/>
            </a:xfrm>
            <a:prstGeom prst="roundRect">
              <a:avLst>
                <a:gd name="adj" fmla="val 2500"/>
              </a:avLst>
            </a:prstGeom>
            <a:solidFill>
              <a:srgbClr val="FAFBFC">
                <a:alpha val="50000"/>
              </a:srgbClr>
            </a:solidFill>
            <a:ln w="7620">
              <a:solidFill>
                <a:srgbClr val="9AA4B0"/>
              </a:solidFill>
            </a:ln>
          </p:spPr>
        </p:sp>
        <p:sp>
          <p:nvSpPr>
            <p:cNvPr id="214" name="Line 214"/>
            <p:cNvSpPr/>
            <p:nvPr/>
          </p:nvSpPr>
          <p:spPr>
            <a:xfrm>
              <a:off x="14049375" y="4095750"/>
              <a:ext cx="2428875" cy="9525"/>
            </a:xfrm>
            <a:custGeom>
              <a:avLst/>
              <a:gdLst/>
              <a:ahLst/>
              <a:cxnLst/>
              <a:rect l="l" t="t" r="r" b="b"/>
              <a:pathLst>
                <a:path w="2428875" h="9525">
                  <a:moveTo>
                    <a:pt x="0" y="0"/>
                  </a:moveTo>
                  <a:lnTo>
                    <a:pt x="2428875" y="0"/>
                  </a:lnTo>
                </a:path>
              </a:pathLst>
            </a:custGeom>
            <a:noFill/>
            <a:ln w="11430">
              <a:solidFill>
                <a:srgbClr val="1A1A1A"/>
              </a:solidFill>
            </a:ln>
          </p:spPr>
        </p:sp>
        <p:sp>
          <p:nvSpPr>
            <p:cNvPr id="215" name="Line 215"/>
            <p:cNvSpPr/>
            <p:nvPr/>
          </p:nvSpPr>
          <p:spPr>
            <a:xfrm>
              <a:off x="14049375" y="1143000"/>
              <a:ext cx="9525" cy="2952750"/>
            </a:xfrm>
            <a:custGeom>
              <a:avLst/>
              <a:gdLst/>
              <a:ahLst/>
              <a:cxnLst/>
              <a:rect l="l" t="t" r="r" b="b"/>
              <a:pathLst>
                <a:path w="9525" h="2952750">
                  <a:moveTo>
                    <a:pt x="0" y="2952750"/>
                  </a:moveTo>
                  <a:lnTo>
                    <a:pt x="0" y="0"/>
                  </a:lnTo>
                </a:path>
              </a:pathLst>
            </a:custGeom>
            <a:noFill/>
            <a:ln w="11430">
              <a:solidFill>
                <a:srgbClr val="1A1A1A"/>
              </a:solidFill>
            </a:ln>
          </p:spPr>
        </p:sp>
        <p:sp>
          <p:nvSpPr>
            <p:cNvPr id="216" name="Polygon 216"/>
            <p:cNvSpPr/>
            <p:nvPr/>
          </p:nvSpPr>
          <p:spPr>
            <a:xfrm>
              <a:off x="16402050" y="4067175"/>
              <a:ext cx="76200" cy="57150"/>
            </a:xfrm>
            <a:custGeom>
              <a:avLst/>
              <a:gdLst/>
              <a:ahLst/>
              <a:cxnLst/>
              <a:rect l="l" t="t" r="r" b="b"/>
              <a:pathLst>
                <a:path w="76200" h="57150">
                  <a:moveTo>
                    <a:pt x="76200" y="28575"/>
                  </a:moveTo>
                  <a:lnTo>
                    <a:pt x="0" y="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217" name="Polygon 217"/>
            <p:cNvSpPr/>
            <p:nvPr/>
          </p:nvSpPr>
          <p:spPr>
            <a:xfrm>
              <a:off x="14020800" y="1143000"/>
              <a:ext cx="57150" cy="76200"/>
            </a:xfrm>
            <a:custGeom>
              <a:avLst/>
              <a:gdLst/>
              <a:ahLst/>
              <a:cxnLst/>
              <a:rect l="l" t="t" r="r" b="b"/>
              <a:pathLst>
                <a:path w="57150" h="76200">
                  <a:moveTo>
                    <a:pt x="28575" y="0"/>
                  </a:moveTo>
                  <a:lnTo>
                    <a:pt x="0" y="76200"/>
                  </a:lnTo>
                  <a:lnTo>
                    <a:pt x="57150" y="7620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218" name="TextBox 218"/>
            <p:cNvSpPr txBox="1"/>
            <p:nvPr/>
          </p:nvSpPr>
          <p:spPr>
            <a:xfrm>
              <a:off x="16568166" y="4020502"/>
              <a:ext cx="1383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000000"/>
                  </a:solidFill>
                  <a:latin typeface="Segoe UI"/>
                  <a:ea typeface="Segoe UI"/>
                  <a:cs typeface="Segoe UI"/>
                </a:rPr>
                <a:t>u</a:t>
              </a:r>
              <a:r>
                <a:rPr lang="en-US" sz="680" dirty="0">
                  <a:solidFill>
                    <a:srgbClr val="000000"/>
                  </a:solidFill>
                  <a:latin typeface="Segoe UI"/>
                  <a:ea typeface="Segoe UI"/>
                  <a:cs typeface="Segoe UI"/>
                </a:rPr>
                <a:t>0</a:t>
              </a:r>
            </a:p>
          </p:txBody>
        </p:sp>
        <p:sp>
          <p:nvSpPr>
            <p:cNvPr id="219" name="TextBox 219"/>
            <p:cNvSpPr txBox="1"/>
            <p:nvPr/>
          </p:nvSpPr>
          <p:spPr>
            <a:xfrm>
              <a:off x="13821070" y="1010602"/>
              <a:ext cx="1383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000000"/>
                  </a:solidFill>
                  <a:latin typeface="Segoe UI"/>
                  <a:ea typeface="Segoe UI"/>
                  <a:cs typeface="Segoe UI"/>
                </a:rPr>
                <a:t>u</a:t>
              </a:r>
              <a:r>
                <a:rPr lang="en-US" sz="680" dirty="0">
                  <a:solidFill>
                    <a:srgbClr val="000000"/>
                  </a:solidFill>
                  <a:latin typeface="Segoe UI"/>
                  <a:ea typeface="Segoe UI"/>
                  <a:cs typeface="Segoe UI"/>
                </a:rPr>
                <a:t>1</a:t>
              </a:r>
            </a:p>
          </p:txBody>
        </p:sp>
        <p:sp>
          <p:nvSpPr>
            <p:cNvPr id="220" name="TextBox 220"/>
            <p:cNvSpPr txBox="1"/>
            <p:nvPr/>
          </p:nvSpPr>
          <p:spPr>
            <a:xfrm>
              <a:off x="14186154" y="4109085"/>
              <a:ext cx="16841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4A4A4A"/>
                  </a:solidFill>
                  <a:latin typeface="Segoe UI"/>
                  <a:ea typeface="Segoe UI"/>
                  <a:cs typeface="Segoe UI"/>
                </a:rPr>
                <a:t>membrane coordinate</a:t>
              </a:r>
            </a:p>
          </p:txBody>
        </p:sp>
        <p:sp>
          <p:nvSpPr>
            <p:cNvPr id="221" name="TextBox 221"/>
            <p:cNvSpPr txBox="1"/>
            <p:nvPr/>
          </p:nvSpPr>
          <p:spPr>
            <a:xfrm>
              <a:off x="13269544" y="12039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4A4A4A"/>
                  </a:solidFill>
                  <a:latin typeface="Segoe UI"/>
                  <a:ea typeface="Segoe UI"/>
                  <a:cs typeface="Segoe UI"/>
                </a:rPr>
                <a:t>auxiliary</a:t>
              </a:r>
            </a:p>
          </p:txBody>
        </p:sp>
        <p:sp>
          <p:nvSpPr>
            <p:cNvPr id="222" name="TextBox 222"/>
            <p:cNvSpPr txBox="1"/>
            <p:nvPr/>
          </p:nvSpPr>
          <p:spPr>
            <a:xfrm>
              <a:off x="13188772" y="1318260"/>
              <a:ext cx="7714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4A4A4A"/>
                  </a:solidFill>
                  <a:latin typeface="Segoe UI"/>
                  <a:ea typeface="Segoe UI"/>
                  <a:cs typeface="Segoe UI"/>
                </a:rPr>
                <a:t>discharge</a:t>
              </a:r>
            </a:p>
          </p:txBody>
        </p:sp>
        <p:sp>
          <p:nvSpPr>
            <p:cNvPr id="223" name="TextBox 223"/>
            <p:cNvSpPr txBox="1"/>
            <p:nvPr/>
          </p:nvSpPr>
          <p:spPr>
            <a:xfrm>
              <a:off x="13099923" y="1432560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4A4A4A"/>
                  </a:solidFill>
                  <a:latin typeface="Segoe UI"/>
                  <a:ea typeface="Segoe UI"/>
                  <a:cs typeface="Segoe UI"/>
                </a:rPr>
                <a:t>coordinate</a:t>
              </a:r>
            </a:p>
          </p:txBody>
        </p:sp>
        <p:sp>
          <p:nvSpPr>
            <p:cNvPr id="224" name="Line 224"/>
            <p:cNvSpPr/>
            <p:nvPr/>
          </p:nvSpPr>
          <p:spPr>
            <a:xfrm>
              <a:off x="15430500" y="1143000"/>
              <a:ext cx="9525" cy="2952750"/>
            </a:xfrm>
            <a:custGeom>
              <a:avLst/>
              <a:gdLst/>
              <a:ahLst/>
              <a:cxnLst/>
              <a:rect l="l" t="t" r="r" b="b"/>
              <a:pathLst>
                <a:path w="9525" h="2952750">
                  <a:moveTo>
                    <a:pt x="0" y="0"/>
                  </a:moveTo>
                  <a:lnTo>
                    <a:pt x="0" y="2952750"/>
                  </a:lnTo>
                </a:path>
              </a:pathLst>
            </a:custGeom>
            <a:noFill/>
            <a:ln w="9525">
              <a:solidFill>
                <a:srgbClr val="1A1A1A"/>
              </a:solidFill>
              <a:custDash>
                <a:ds d="400000" sp="300000"/>
              </a:custDash>
            </a:ln>
          </p:spPr>
        </p:sp>
        <p:sp>
          <p:nvSpPr>
            <p:cNvPr id="225" name="TextBox 225"/>
            <p:cNvSpPr txBox="1"/>
            <p:nvPr/>
          </p:nvSpPr>
          <p:spPr>
            <a:xfrm>
              <a:off x="15482697" y="1180624"/>
              <a:ext cx="820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000000"/>
                  </a:solidFill>
                  <a:latin typeface="Segoe UI"/>
                  <a:ea typeface="Segoe UI"/>
                  <a:cs typeface="Segoe UI"/>
                </a:rPr>
                <a:t>θ</a:t>
              </a:r>
            </a:p>
          </p:txBody>
        </p:sp>
        <p:sp>
          <p:nvSpPr>
            <p:cNvPr id="226" name="TextBox 226"/>
            <p:cNvSpPr txBox="1"/>
            <p:nvPr/>
          </p:nvSpPr>
          <p:spPr>
            <a:xfrm>
              <a:off x="15481554" y="1299210"/>
              <a:ext cx="10339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i="1" dirty="0">
                  <a:solidFill>
                    <a:srgbClr val="C63D32"/>
                  </a:solidFill>
                  <a:latin typeface="Segoe UI"/>
                  <a:ea typeface="Segoe UI"/>
                  <a:cs typeface="Segoe UI"/>
                </a:rPr>
                <a:t>(when z</a:t>
              </a:r>
              <a:r>
                <a:rPr lang="en-US" sz="600" i="1" dirty="0">
                  <a:solidFill>
                    <a:srgbClr val="C63D32"/>
                  </a:solidFill>
                  <a:latin typeface="Segoe UI"/>
                  <a:ea typeface="Segoe UI"/>
                  <a:cs typeface="Segoe UI"/>
                </a:rPr>
                <a:t>t</a:t>
              </a:r>
              <a:r>
                <a:rPr lang="en-US" sz="1200" i="1" dirty="0">
                  <a:solidFill>
                    <a:srgbClr val="C63D32"/>
                  </a:solidFill>
                  <a:latin typeface="Segoe UI"/>
                  <a:ea typeface="Segoe UI"/>
                  <a:cs typeface="Segoe UI"/>
                </a:rPr>
                <a:t xml:space="preserve"> = 1)</a:t>
              </a:r>
            </a:p>
          </p:txBody>
        </p:sp>
        <p:sp>
          <p:nvSpPr>
            <p:cNvPr id="227" name="Line 227"/>
            <p:cNvSpPr/>
            <p:nvPr/>
          </p:nvSpPr>
          <p:spPr>
            <a:xfrm>
              <a:off x="15430500" y="4067175"/>
              <a:ext cx="9525" cy="57150"/>
            </a:xfrm>
            <a:custGeom>
              <a:avLst/>
              <a:gdLst/>
              <a:ahLst/>
              <a:cxnLst/>
              <a:rect l="l" t="t" r="r" b="b"/>
              <a:pathLst>
                <a:path w="9525" h="57150">
                  <a:moveTo>
                    <a:pt x="0" y="0"/>
                  </a:moveTo>
                  <a:lnTo>
                    <a:pt x="0" y="57150"/>
                  </a:lnTo>
                </a:path>
              </a:pathLst>
            </a:custGeom>
            <a:noFill/>
            <a:ln w="9525">
              <a:solidFill>
                <a:srgbClr val="1A1A1A"/>
              </a:solidFill>
            </a:ln>
          </p:spPr>
        </p:sp>
        <p:sp>
          <p:nvSpPr>
            <p:cNvPr id="228" name="TextBox 228"/>
            <p:cNvSpPr txBox="1"/>
            <p:nvPr/>
          </p:nvSpPr>
          <p:spPr>
            <a:xfrm>
              <a:off x="15379979" y="410908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000000"/>
                  </a:solidFill>
                  <a:latin typeface="Segoe UI"/>
                  <a:ea typeface="Segoe UI"/>
                  <a:cs typeface="Segoe UI"/>
                </a:rPr>
                <a:t>θ</a:t>
              </a:r>
            </a:p>
          </p:txBody>
        </p:sp>
        <p:sp>
          <p:nvSpPr>
            <p:cNvPr id="229" name="TextBox 229"/>
            <p:cNvSpPr txBox="1"/>
            <p:nvPr/>
          </p:nvSpPr>
          <p:spPr>
            <a:xfrm>
              <a:off x="13906805" y="410908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000000"/>
                  </a:solidFill>
                  <a:latin typeface="Segoe UI"/>
                  <a:ea typeface="Segoe UI"/>
                  <a:cs typeface="Segoe UI"/>
                </a:rPr>
                <a:t>0</a:t>
              </a:r>
            </a:p>
          </p:txBody>
        </p:sp>
        <p:sp>
          <p:nvSpPr>
            <p:cNvPr id="230" name="Ellipse 230"/>
            <p:cNvSpPr/>
            <p:nvPr/>
          </p:nvSpPr>
          <p:spPr>
            <a:xfrm>
              <a:off x="15963900" y="2057400"/>
              <a:ext cx="76200" cy="76200"/>
            </a:xfrm>
            <a:prstGeom prst="ellipse">
              <a:avLst/>
            </a:prstGeom>
            <a:solidFill>
              <a:srgbClr val="D17835"/>
            </a:solidFill>
            <a:ln w="9525">
              <a:solidFill>
                <a:srgbClr val="D17835"/>
              </a:solidFill>
            </a:ln>
          </p:spPr>
        </p:sp>
        <p:sp>
          <p:nvSpPr>
            <p:cNvPr id="231" name="TextBox 231"/>
            <p:cNvSpPr txBox="1"/>
            <p:nvPr/>
          </p:nvSpPr>
          <p:spPr>
            <a:xfrm>
              <a:off x="16092297" y="1952149"/>
              <a:ext cx="13207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D17835"/>
                  </a:solidFill>
                  <a:latin typeface="Segoe UI"/>
                  <a:ea typeface="Segoe UI"/>
                  <a:cs typeface="Segoe UI"/>
                </a:rPr>
                <a:t>ũ</a:t>
              </a:r>
              <a:r>
                <a:rPr lang="en-US" sz="680" dirty="0">
                  <a:solidFill>
                    <a:srgbClr val="D17835"/>
                  </a:solidFill>
                  <a:latin typeface="Segoe UI"/>
                  <a:ea typeface="Segoe UI"/>
                  <a:cs typeface="Segoe UI"/>
                </a:rPr>
                <a:t>t</a:t>
              </a:r>
            </a:p>
          </p:txBody>
        </p:sp>
        <p:sp>
          <p:nvSpPr>
            <p:cNvPr id="232" name="Ellipse 232"/>
            <p:cNvSpPr/>
            <p:nvPr/>
          </p:nvSpPr>
          <p:spPr>
            <a:xfrm>
              <a:off x="15249525" y="3009900"/>
              <a:ext cx="76200" cy="76200"/>
            </a:xfrm>
            <a:prstGeom prst="ellipse">
              <a:avLst/>
            </a:prstGeom>
            <a:solidFill>
              <a:srgbClr val="C63D32"/>
            </a:solidFill>
            <a:ln w="9525">
              <a:solidFill>
                <a:srgbClr val="C63D32"/>
              </a:solidFill>
            </a:ln>
          </p:spPr>
        </p:sp>
        <p:sp>
          <p:nvSpPr>
            <p:cNvPr id="233" name="TextBox 233"/>
            <p:cNvSpPr txBox="1"/>
            <p:nvPr/>
          </p:nvSpPr>
          <p:spPr>
            <a:xfrm>
              <a:off x="14779504" y="3037999"/>
              <a:ext cx="13207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rgbClr val="C63D32"/>
                  </a:solidFill>
                  <a:latin typeface="Segoe UI"/>
                  <a:ea typeface="Segoe UI"/>
                  <a:cs typeface="Segoe UI"/>
                </a:rPr>
                <a:t>u</a:t>
              </a:r>
              <a:r>
                <a:rPr lang="en-US" sz="680" dirty="0">
                  <a:solidFill>
                    <a:srgbClr val="C63D32"/>
                  </a:solidFill>
                  <a:latin typeface="Segoe UI"/>
                  <a:ea typeface="Segoe UI"/>
                  <a:cs typeface="Segoe UI"/>
                </a:rPr>
                <a:t>t</a:t>
              </a:r>
            </a:p>
          </p:txBody>
        </p:sp>
        <p:sp>
          <p:nvSpPr>
            <p:cNvPr id="234" name="Line 234"/>
            <p:cNvSpPr/>
            <p:nvPr/>
          </p:nvSpPr>
          <p:spPr>
            <a:xfrm flipH="1">
              <a:off x="15287625" y="2095500"/>
              <a:ext cx="714375" cy="952500"/>
            </a:xfrm>
            <a:prstGeom prst="line">
              <a:avLst/>
            </a:prstGeom>
            <a:noFill/>
            <a:ln w="19050">
              <a:solidFill>
                <a:srgbClr val="C63D32"/>
              </a:solidFill>
              <a:tailEnd type="triangle" w="lg" len="lg"/>
            </a:ln>
          </p:spPr>
        </p:sp>
        <p:sp>
          <p:nvSpPr>
            <p:cNvPr id="235" name="TextBox 235"/>
            <p:cNvSpPr txBox="1"/>
            <p:nvPr/>
          </p:nvSpPr>
          <p:spPr>
            <a:xfrm>
              <a:off x="15948279" y="2394585"/>
              <a:ext cx="9881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i="1" dirty="0">
                  <a:solidFill>
                    <a:srgbClr val="000000"/>
                  </a:solidFill>
                  <a:latin typeface="Segoe UI"/>
                  <a:ea typeface="Segoe UI"/>
                  <a:cs typeface="Segoe UI"/>
                </a:rPr>
                <a:t>−z</a:t>
              </a:r>
              <a:r>
                <a:rPr lang="en-US" sz="600" b="1" i="1" dirty="0">
                  <a:solidFill>
                    <a:srgbClr val="000000"/>
                  </a:solidFill>
                  <a:latin typeface="Segoe UI"/>
                  <a:ea typeface="Segoe UI"/>
                  <a:cs typeface="Segoe UI"/>
                </a:rPr>
                <a:t>t</a:t>
              </a:r>
              <a:r>
                <a:rPr lang="en-US" sz="1200" b="1" i="1" dirty="0">
                  <a:solidFill>
                    <a:srgbClr val="000000"/>
                  </a:solidFill>
                  <a:latin typeface="Segoe UI"/>
                  <a:ea typeface="Segoe UI"/>
                  <a:cs typeface="Segoe UI"/>
                </a:rPr>
                <a:t xml:space="preserve"> θ[1, λ</a:t>
              </a:r>
              <a:r>
                <a:rPr lang="en-US" sz="600" b="1" i="1" dirty="0">
                  <a:solidFill>
                    <a:srgbClr val="000000"/>
                  </a:solidFill>
                  <a:latin typeface="Segoe UI"/>
                  <a:ea typeface="Segoe UI"/>
                  <a:cs typeface="Segoe UI"/>
                </a:rPr>
                <a:t>j</a:t>
              </a:r>
              <a:r>
                <a:rPr lang="en-US" sz="1200" b="1" i="1" dirty="0">
                  <a:solidFill>
                    <a:srgbClr val="000000"/>
                  </a:solidFill>
                  <a:latin typeface="Segoe UI"/>
                  <a:ea typeface="Segoe UI"/>
                  <a:cs typeface="Segoe UI"/>
                </a:rPr>
                <a:t>]</a:t>
              </a:r>
              <a:r>
                <a:rPr lang="en-US" sz="600" b="1" i="1" dirty="0">
                  <a:solidFill>
                    <a:srgbClr val="000000"/>
                  </a:solidFill>
                  <a:latin typeface="Segoe UI"/>
                  <a:ea typeface="Segoe UI"/>
                  <a:cs typeface="Segoe UI"/>
                </a:rPr>
                <a:t>T</a:t>
              </a:r>
            </a:p>
          </p:txBody>
        </p:sp>
        <p:sp>
          <p:nvSpPr>
            <p:cNvPr id="236" name="Line 236"/>
            <p:cNvSpPr/>
            <p:nvPr/>
          </p:nvSpPr>
          <p:spPr>
            <a:xfrm>
              <a:off x="15430500" y="20955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571500" y="0"/>
                  </a:moveTo>
                  <a:lnTo>
                    <a:pt x="0" y="0"/>
                  </a:lnTo>
                </a:path>
              </a:pathLst>
            </a:custGeom>
            <a:noFill/>
            <a:ln w="7620">
              <a:solidFill>
                <a:srgbClr val="C63D32">
                  <a:alpha val="70000"/>
                </a:srgbClr>
              </a:solidFill>
              <a:prstDash val="sysDot"/>
            </a:ln>
          </p:spPr>
        </p:sp>
        <p:sp>
          <p:nvSpPr>
            <p:cNvPr id="237" name="Line 237"/>
            <p:cNvSpPr/>
            <p:nvPr/>
          </p:nvSpPr>
          <p:spPr>
            <a:xfrm>
              <a:off x="15430500" y="2095500"/>
              <a:ext cx="9525" cy="952500"/>
            </a:xfrm>
            <a:custGeom>
              <a:avLst/>
              <a:gdLst/>
              <a:ahLst/>
              <a:cxnLst/>
              <a:rect l="l" t="t" r="r" b="b"/>
              <a:pathLst>
                <a:path w="9525" h="952500">
                  <a:moveTo>
                    <a:pt x="0" y="0"/>
                  </a:moveTo>
                  <a:lnTo>
                    <a:pt x="0" y="952500"/>
                  </a:lnTo>
                </a:path>
              </a:pathLst>
            </a:custGeom>
            <a:noFill/>
            <a:ln w="7620">
              <a:solidFill>
                <a:srgbClr val="C63D32">
                  <a:alpha val="70000"/>
                </a:srgbClr>
              </a:solidFill>
              <a:prstDash val="sysDot"/>
            </a:ln>
          </p:spPr>
        </p:sp>
        <p:sp>
          <p:nvSpPr>
            <p:cNvPr id="238" name="Line 238"/>
            <p:cNvSpPr/>
            <p:nvPr/>
          </p:nvSpPr>
          <p:spPr>
            <a:xfrm>
              <a:off x="15287625" y="3048000"/>
              <a:ext cx="142875" cy="9525"/>
            </a:xfrm>
            <a:custGeom>
              <a:avLst/>
              <a:gdLst/>
              <a:ahLst/>
              <a:cxnLst/>
              <a:rect l="l" t="t" r="r" b="b"/>
              <a:pathLst>
                <a:path w="142875" h="9525">
                  <a:moveTo>
                    <a:pt x="142875" y="0"/>
                  </a:moveTo>
                  <a:lnTo>
                    <a:pt x="0" y="0"/>
                  </a:lnTo>
                </a:path>
              </a:pathLst>
            </a:custGeom>
            <a:noFill/>
            <a:ln w="7620">
              <a:solidFill>
                <a:srgbClr val="C63D32">
                  <a:alpha val="70000"/>
                </a:srgbClr>
              </a:solidFill>
              <a:prstDash val="sysDot"/>
            </a:ln>
          </p:spPr>
        </p:sp>
        <p:sp>
          <p:nvSpPr>
            <p:cNvPr id="239" name="TextBox 239"/>
            <p:cNvSpPr txBox="1"/>
            <p:nvPr/>
          </p:nvSpPr>
          <p:spPr>
            <a:xfrm>
              <a:off x="15710154" y="1918335"/>
              <a:ext cx="3660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i="1" dirty="0">
                  <a:solidFill>
                    <a:srgbClr val="000000"/>
                  </a:solidFill>
                  <a:latin typeface="Segoe UI"/>
                  <a:ea typeface="Segoe UI"/>
                  <a:cs typeface="Segoe UI"/>
                </a:rPr>
                <a:t>−θ z</a:t>
              </a:r>
              <a:r>
                <a:rPr lang="en-US" sz="520" i="1" dirty="0">
                  <a:solidFill>
                    <a:srgbClr val="000000"/>
                  </a:solidFill>
                  <a:latin typeface="Segoe UI"/>
                  <a:ea typeface="Segoe UI"/>
                  <a:cs typeface="Segoe UI"/>
                </a:rPr>
                <a:t>t</a:t>
              </a:r>
            </a:p>
          </p:txBody>
        </p:sp>
        <p:sp>
          <p:nvSpPr>
            <p:cNvPr id="240" name="TextBox 240"/>
            <p:cNvSpPr txBox="1"/>
            <p:nvPr/>
          </p:nvSpPr>
          <p:spPr>
            <a:xfrm>
              <a:off x="15481554" y="2461260"/>
              <a:ext cx="524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i="1" dirty="0">
                  <a:solidFill>
                    <a:srgbClr val="000000"/>
                  </a:solidFill>
                  <a:latin typeface="Segoe UI"/>
                  <a:ea typeface="Segoe UI"/>
                  <a:cs typeface="Segoe UI"/>
                </a:rPr>
                <a:t>−λ</a:t>
              </a:r>
              <a:r>
                <a:rPr lang="en-US" sz="520" i="1" dirty="0">
                  <a:solidFill>
                    <a:srgbClr val="000000"/>
                  </a:solidFill>
                  <a:latin typeface="Segoe UI"/>
                  <a:ea typeface="Segoe UI"/>
                  <a:cs typeface="Segoe UI"/>
                </a:rPr>
                <a:t>j</a:t>
              </a:r>
              <a:r>
                <a:rPr lang="en-US" sz="1200" i="1" dirty="0">
                  <a:solidFill>
                    <a:srgbClr val="000000"/>
                  </a:solidFill>
                  <a:latin typeface="Segoe UI"/>
                  <a:ea typeface="Segoe UI"/>
                  <a:cs typeface="Segoe UI"/>
                </a:rPr>
                <a:t xml:space="preserve"> θ z</a:t>
              </a:r>
              <a:r>
                <a:rPr lang="en-US" sz="520" i="1" dirty="0">
                  <a:solidFill>
                    <a:srgbClr val="000000"/>
                  </a:solidFill>
                  <a:latin typeface="Segoe UI"/>
                  <a:ea typeface="Segoe UI"/>
                  <a:cs typeface="Segoe UI"/>
                </a:rPr>
                <a:t>t</a:t>
              </a:r>
            </a:p>
          </p:txBody>
        </p:sp>
        <p:sp>
          <p:nvSpPr>
            <p:cNvPr id="241" name="Freeform 241"/>
            <p:cNvSpPr/>
            <p:nvPr/>
          </p:nvSpPr>
          <p:spPr>
            <a:xfrm>
              <a:off x="14287500" y="2095500"/>
              <a:ext cx="1714500" cy="1857375"/>
            </a:xfrm>
            <a:custGeom>
              <a:avLst/>
              <a:gdLst/>
              <a:ahLst/>
              <a:cxnLst/>
              <a:rect l="l" t="t" r="r" b="b"/>
              <a:pathLst>
                <a:path w="1714500" h="1857375">
                  <a:moveTo>
                    <a:pt x="0" y="1857375"/>
                  </a:moveTo>
                  <a:cubicBezTo>
                    <a:pt x="254000" y="1635125"/>
                    <a:pt x="508000" y="1428750"/>
                    <a:pt x="762000" y="1238250"/>
                  </a:cubicBezTo>
                  <a:cubicBezTo>
                    <a:pt x="1016000" y="1047750"/>
                    <a:pt x="1333500" y="635000"/>
                    <a:pt x="1714500" y="0"/>
                  </a:cubicBezTo>
                </a:path>
              </a:pathLst>
            </a:custGeom>
            <a:noFill/>
            <a:ln w="7620">
              <a:solidFill>
                <a:srgbClr val="D17835">
                  <a:alpha val="50000"/>
                </a:srgbClr>
              </a:solidFill>
              <a:custDash>
                <a:ds d="187500" sp="312500"/>
              </a:custDash>
            </a:ln>
          </p:spPr>
        </p:sp>
        <p:sp>
          <p:nvSpPr>
            <p:cNvPr id="242" name="TextBox 242"/>
            <p:cNvSpPr txBox="1"/>
            <p:nvPr/>
          </p:nvSpPr>
          <p:spPr>
            <a:xfrm>
              <a:off x="14329029" y="3918585"/>
              <a:ext cx="9087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D17835">
                      <a:alphaMod val="80000"/>
                    </a:srgbClr>
                  </a:solidFill>
                  <a:latin typeface="Segoe UI"/>
                  <a:ea typeface="Segoe UI"/>
                  <a:cs typeface="Segoe UI"/>
                </a:rPr>
                <a:t>integrating</a:t>
              </a:r>
            </a:p>
          </p:txBody>
        </p:sp>
        <p:sp>
          <p:nvSpPr>
            <p:cNvPr id="243" name="TextBox 243"/>
            <p:cNvSpPr txBox="1"/>
            <p:nvPr/>
          </p:nvSpPr>
          <p:spPr>
            <a:xfrm>
              <a:off x="14329029" y="4032885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D17835">
                      <a:alphaMod val="80000"/>
                    </a:srgbClr>
                  </a:solidFill>
                  <a:latin typeface="Segoe UI"/>
                  <a:ea typeface="Segoe UI"/>
                  <a:cs typeface="Segoe UI"/>
                </a:rPr>
                <a:t>trajectory</a:t>
              </a:r>
            </a:p>
          </p:txBody>
        </p:sp>
        <p:grpSp>
          <p:nvGrpSpPr>
            <p:cNvPr id="252" name="Group 252"/>
            <p:cNvGrpSpPr/>
            <p:nvPr/>
          </p:nvGrpSpPr>
          <p:grpSpPr>
            <a:xfrm>
              <a:off x="13811250" y="4785360"/>
              <a:ext cx="2713863" cy="234696"/>
              <a:chOff x="13811250" y="4785360"/>
              <a:chExt cx="2713863" cy="234696"/>
            </a:xfrm>
          </p:grpSpPr>
          <p:sp>
            <p:nvSpPr>
              <p:cNvPr id="244" name="Rectangle 244"/>
              <p:cNvSpPr/>
              <p:nvPr/>
            </p:nvSpPr>
            <p:spPr>
              <a:xfrm>
                <a:off x="13811250" y="4857750"/>
                <a:ext cx="57150" cy="57150"/>
              </a:xfrm>
              <a:prstGeom prst="rect">
                <a:avLst/>
              </a:prstGeom>
              <a:solidFill>
                <a:srgbClr val="E7F4F2"/>
              </a:solidFill>
              <a:ln w="7620">
                <a:solidFill>
                  <a:srgbClr val="287C78"/>
                </a:solidFill>
              </a:ln>
            </p:spPr>
          </p:sp>
          <p:sp>
            <p:nvSpPr>
              <p:cNvPr id="245" name="TextBox 245"/>
              <p:cNvSpPr txBox="1"/>
              <p:nvPr/>
            </p:nvSpPr>
            <p:spPr>
              <a:xfrm>
                <a:off x="13909929" y="4785360"/>
                <a:ext cx="35951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>slow</a:t>
                </a:r>
              </a:p>
            </p:txBody>
          </p:sp>
          <p:sp>
            <p:nvSpPr>
              <p:cNvPr id="246" name="Rectangle 246"/>
              <p:cNvSpPr/>
              <p:nvPr/>
            </p:nvSpPr>
            <p:spPr>
              <a:xfrm>
                <a:off x="14335125" y="4857750"/>
                <a:ext cx="57150" cy="57150"/>
              </a:xfrm>
              <a:prstGeom prst="rect">
                <a:avLst/>
              </a:prstGeom>
              <a:solidFill>
                <a:srgbClr val="FFF0E5"/>
              </a:solidFill>
              <a:ln w="7620">
                <a:solidFill>
                  <a:srgbClr val="D17835"/>
                </a:solidFill>
              </a:ln>
            </p:spPr>
          </p:sp>
          <p:sp>
            <p:nvSpPr>
              <p:cNvPr id="247" name="TextBox 247"/>
              <p:cNvSpPr txBox="1"/>
              <p:nvPr/>
            </p:nvSpPr>
            <p:spPr>
              <a:xfrm>
                <a:off x="14433804" y="4785360"/>
                <a:ext cx="36758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>fast</a:t>
                </a:r>
              </a:p>
            </p:txBody>
          </p:sp>
          <p:sp>
            <p:nvSpPr>
              <p:cNvPr id="248" name="Rectangle 248"/>
              <p:cNvSpPr/>
              <p:nvPr/>
            </p:nvSpPr>
            <p:spPr>
              <a:xfrm>
                <a:off x="14859000" y="4857750"/>
                <a:ext cx="57150" cy="57150"/>
              </a:xfrm>
              <a:prstGeom prst="rect">
                <a:avLst/>
              </a:prstGeom>
              <a:solidFill>
                <a:srgbClr val="FFF6F4"/>
              </a:solidFill>
              <a:ln w="7620">
                <a:solidFill>
                  <a:srgbClr val="C63D32"/>
                </a:solidFill>
              </a:ln>
            </p:spPr>
          </p:sp>
          <p:sp>
            <p:nvSpPr>
              <p:cNvPr id="249" name="TextBox 249"/>
              <p:cNvSpPr txBox="1"/>
              <p:nvPr/>
            </p:nvSpPr>
            <p:spPr>
              <a:xfrm>
                <a:off x="14957679" y="4785360"/>
                <a:ext cx="45643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>reset</a:t>
                </a:r>
              </a:p>
            </p:txBody>
          </p:sp>
          <p:sp>
            <p:nvSpPr>
              <p:cNvPr id="250" name="Line 250"/>
              <p:cNvSpPr/>
              <p:nvPr/>
            </p:nvSpPr>
            <p:spPr>
              <a:xfrm>
                <a:off x="15430500" y="4886325"/>
                <a:ext cx="152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9525">
                    <a:moveTo>
                      <a:pt x="0" y="0"/>
                    </a:moveTo>
                    <a:lnTo>
                      <a:pt x="152400" y="0"/>
                    </a:lnTo>
                  </a:path>
                </a:pathLst>
              </a:custGeom>
              <a:noFill/>
              <a:ln w="9525">
                <a:solidFill>
                  <a:srgbClr val="6E6E6E"/>
                </a:solidFill>
                <a:prstDash val="sysDot"/>
              </a:ln>
            </p:spPr>
          </p:sp>
          <p:sp>
            <p:nvSpPr>
              <p:cNvPr id="251" name="TextBox 251"/>
              <p:cNvSpPr txBox="1"/>
              <p:nvPr/>
            </p:nvSpPr>
            <p:spPr>
              <a:xfrm>
                <a:off x="15624429" y="4785360"/>
                <a:ext cx="9006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</a:rPr>
                  <a:t>recurrence</a:t>
                </a:r>
              </a:p>
            </p:txBody>
          </p:sp>
        </p:grpSp>
        <p:sp>
          <p:nvSpPr>
            <p:cNvPr id="253" name="TextBox 253"/>
            <p:cNvSpPr txBox="1"/>
            <p:nvPr/>
          </p:nvSpPr>
          <p:spPr>
            <a:xfrm>
              <a:off x="14334665" y="5061585"/>
              <a:ext cx="18106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C63D32"/>
                  </a:solidFill>
                  <a:latin typeface="Segoe UI"/>
                  <a:ea typeface="Segoe UI"/>
                  <a:cs typeface="Segoe UI"/>
                </a:rPr>
                <a:t>Δu</a:t>
              </a:r>
              <a:r>
                <a:rPr lang="en-US" sz="680" dirty="0">
                  <a:solidFill>
                    <a:srgbClr val="C63D32"/>
                  </a:solidFill>
                  <a:latin typeface="Segoe UI"/>
                  <a:ea typeface="Segoe UI"/>
                  <a:cs typeface="Segoe UI"/>
                </a:rPr>
                <a:t>t</a:t>
              </a:r>
              <a:r>
                <a:rPr lang="en-US" sz="1200" i="1" dirty="0">
                  <a:solidFill>
                    <a:srgbClr val="C63D32"/>
                  </a:solidFill>
                  <a:latin typeface="Segoe UI"/>
                  <a:ea typeface="Segoe UI"/>
                  <a:cs typeface="Segoe UI"/>
                </a:rPr>
                <a:t>reset</a:t>
              </a:r>
              <a:r>
                <a:rPr lang="en-US" sz="1200" dirty="0">
                  <a:solidFill>
                    <a:srgbClr val="C63D32"/>
                  </a:solidFill>
                  <a:latin typeface="Segoe UI"/>
                  <a:ea typeface="Segoe UI"/>
                  <a:cs typeface="Segoe UI"/>
                </a:rPr>
                <a:t xml:space="preserve"> = −z</a:t>
              </a:r>
              <a:r>
                <a:rPr lang="en-US" sz="680" dirty="0">
                  <a:solidFill>
                    <a:srgbClr val="C63D32"/>
                  </a:solidFill>
                  <a:latin typeface="Segoe UI"/>
                  <a:ea typeface="Segoe UI"/>
                  <a:cs typeface="Segoe UI"/>
                </a:rPr>
                <a:t>t</a:t>
              </a:r>
              <a:r>
                <a:rPr lang="en-US" sz="1200" dirty="0">
                  <a:solidFill>
                    <a:srgbClr val="C63D32"/>
                  </a:solidFill>
                  <a:latin typeface="Segoe UI"/>
                  <a:ea typeface="Segoe UI"/>
                  <a:cs typeface="Segoe UI"/>
                </a:rPr>
                <a:t xml:space="preserve"> θ[1, λ</a:t>
              </a:r>
              <a:r>
                <a:rPr lang="en-US" sz="600" dirty="0">
                  <a:solidFill>
                    <a:srgbClr val="C63D32"/>
                  </a:solidFill>
                  <a:latin typeface="Segoe UI"/>
                  <a:ea typeface="Segoe UI"/>
                  <a:cs typeface="Segoe UI"/>
                </a:rPr>
                <a:t>j</a:t>
              </a:r>
              <a:r>
                <a:rPr lang="en-US" sz="1200" dirty="0">
                  <a:solidFill>
                    <a:srgbClr val="C63D32"/>
                  </a:solidFill>
                  <a:latin typeface="Segoe UI"/>
                  <a:ea typeface="Segoe UI"/>
                  <a:cs typeface="Segoe UI"/>
                </a:rPr>
                <a:t>]</a:t>
              </a:r>
              <a:r>
                <a:rPr lang="en-US" sz="600" dirty="0">
                  <a:solidFill>
                    <a:srgbClr val="C63D32"/>
                  </a:solidFill>
                  <a:latin typeface="Segoe UI"/>
                  <a:ea typeface="Segoe UI"/>
                  <a:cs typeface="Segoe UI"/>
                </a:rPr>
                <a:t>T</a:t>
              </a:r>
            </a:p>
          </p:txBody>
        </p:sp>
        <p:sp>
          <p:nvSpPr>
            <p:cNvPr id="254" name="TextBox 254"/>
            <p:cNvSpPr txBox="1"/>
            <p:nvPr/>
          </p:nvSpPr>
          <p:spPr>
            <a:xfrm>
              <a:off x="14757282" y="5252085"/>
              <a:ext cx="9654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287C78"/>
                  </a:solidFill>
                  <a:latin typeface="Segoe UI"/>
                  <a:ea typeface="Segoe UI"/>
                  <a:cs typeface="Segoe UI"/>
                </a:rPr>
                <a:t>Δx</a:t>
              </a:r>
              <a:r>
                <a:rPr lang="en-US" sz="680" dirty="0">
                  <a:solidFill>
                    <a:srgbClr val="287C78"/>
                  </a:solidFill>
                  <a:latin typeface="Segoe UI"/>
                  <a:ea typeface="Segoe UI"/>
                  <a:cs typeface="Segoe UI"/>
                </a:rPr>
                <a:t>t</a:t>
              </a:r>
              <a:r>
                <a:rPr lang="en-US" sz="1200" i="1" dirty="0">
                  <a:solidFill>
                    <a:srgbClr val="287C78"/>
                  </a:solidFill>
                  <a:latin typeface="Segoe UI"/>
                  <a:ea typeface="Segoe UI"/>
                  <a:cs typeface="Segoe UI"/>
                </a:rPr>
                <a:t>reset</a:t>
              </a:r>
              <a:r>
                <a:rPr lang="en-US" sz="1200" dirty="0">
                  <a:solidFill>
                    <a:srgbClr val="287C78"/>
                  </a:solidFill>
                  <a:latin typeface="Segoe UI"/>
                  <a:ea typeface="Segoe UI"/>
                  <a:cs typeface="Segoe UI"/>
                </a:rPr>
                <a:t xml:space="preserve"> = 0</a:t>
              </a:r>
            </a:p>
          </p:txBody>
        </p:sp>
        <p:sp>
          <p:nvSpPr>
            <p:cNvPr id="255" name="TextBox 255"/>
            <p:cNvSpPr txBox="1"/>
            <p:nvPr/>
          </p:nvSpPr>
          <p:spPr>
            <a:xfrm>
              <a:off x="13380187" y="5537835"/>
              <a:ext cx="37196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000000"/>
                  </a:solidFill>
                  <a:latin typeface="Segoe UI"/>
                  <a:ea typeface="Segoe UI"/>
                  <a:cs typeface="Segoe UI"/>
                </a:rPr>
                <a:t>slow state is geometrically untouched by reset</a:t>
              </a:r>
            </a:p>
          </p:txBody>
        </p:sp>
      </p:grpSp>
      <p:grpSp>
        <p:nvGrpSpPr>
          <p:cNvPr id="267" name="Group 267"/>
          <p:cNvGrpSpPr/>
          <p:nvPr/>
        </p:nvGrpSpPr>
        <p:grpSpPr>
          <a:xfrm>
            <a:off x="3429000" y="5594985"/>
            <a:ext cx="3409112" cy="234696"/>
            <a:chOff x="3429000" y="5594985"/>
            <a:chExt cx="3409112" cy="234696"/>
          </a:xfrm>
        </p:grpSpPr>
        <p:sp>
          <p:nvSpPr>
            <p:cNvPr id="257" name="Rectangle 257"/>
            <p:cNvSpPr/>
            <p:nvPr/>
          </p:nvSpPr>
          <p:spPr>
            <a:xfrm>
              <a:off x="3429000" y="5667375"/>
              <a:ext cx="57150" cy="57150"/>
            </a:xfrm>
            <a:prstGeom prst="rect">
              <a:avLst/>
            </a:prstGeom>
            <a:solidFill>
              <a:srgbClr val="E7F4F2"/>
            </a:solidFill>
            <a:ln w="7620">
              <a:solidFill>
                <a:srgbClr val="287C78"/>
              </a:solidFill>
            </a:ln>
          </p:spPr>
        </p:sp>
        <p:sp>
          <p:nvSpPr>
            <p:cNvPr id="258" name="TextBox 258"/>
            <p:cNvSpPr txBox="1"/>
            <p:nvPr/>
          </p:nvSpPr>
          <p:spPr>
            <a:xfrm>
              <a:off x="3527679" y="5594985"/>
              <a:ext cx="3595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000000"/>
                  </a:solidFill>
                  <a:latin typeface="Segoe UI"/>
                  <a:ea typeface="Segoe UI"/>
                  <a:cs typeface="Segoe UI"/>
                </a:rPr>
                <a:t>slow</a:t>
              </a:r>
            </a:p>
          </p:txBody>
        </p:sp>
        <p:sp>
          <p:nvSpPr>
            <p:cNvPr id="259" name="Rectangle 259"/>
            <p:cNvSpPr/>
            <p:nvPr/>
          </p:nvSpPr>
          <p:spPr>
            <a:xfrm>
              <a:off x="3886200" y="5667375"/>
              <a:ext cx="57150" cy="57150"/>
            </a:xfrm>
            <a:prstGeom prst="rect">
              <a:avLst/>
            </a:prstGeom>
            <a:solidFill>
              <a:srgbClr val="FFF0E5"/>
            </a:solidFill>
            <a:ln w="7620">
              <a:solidFill>
                <a:srgbClr val="D17835"/>
              </a:solidFill>
            </a:ln>
          </p:spPr>
        </p:sp>
        <p:sp>
          <p:nvSpPr>
            <p:cNvPr id="260" name="TextBox 260"/>
            <p:cNvSpPr txBox="1"/>
            <p:nvPr/>
          </p:nvSpPr>
          <p:spPr>
            <a:xfrm>
              <a:off x="3984879" y="5594985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000000"/>
                  </a:solidFill>
                  <a:latin typeface="Segoe UI"/>
                  <a:ea typeface="Segoe UI"/>
                  <a:cs typeface="Segoe UI"/>
                </a:rPr>
                <a:t>fast</a:t>
              </a:r>
            </a:p>
          </p:txBody>
        </p:sp>
        <p:sp>
          <p:nvSpPr>
            <p:cNvPr id="261" name="Rectangle 261"/>
            <p:cNvSpPr/>
            <p:nvPr/>
          </p:nvSpPr>
          <p:spPr>
            <a:xfrm>
              <a:off x="4343400" y="5667375"/>
              <a:ext cx="57150" cy="57150"/>
            </a:xfrm>
            <a:prstGeom prst="rect">
              <a:avLst/>
            </a:prstGeom>
            <a:solidFill>
              <a:srgbClr val="FFF6F4"/>
            </a:solidFill>
            <a:ln w="7620">
              <a:solidFill>
                <a:srgbClr val="C63D32"/>
              </a:solidFill>
            </a:ln>
          </p:spPr>
        </p:sp>
        <p:sp>
          <p:nvSpPr>
            <p:cNvPr id="262" name="TextBox 262"/>
            <p:cNvSpPr txBox="1"/>
            <p:nvPr/>
          </p:nvSpPr>
          <p:spPr>
            <a:xfrm>
              <a:off x="4442079" y="5594985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000000"/>
                  </a:solidFill>
                  <a:latin typeface="Segoe UI"/>
                  <a:ea typeface="Segoe UI"/>
                  <a:cs typeface="Segoe UI"/>
                </a:rPr>
                <a:t>reset</a:t>
              </a:r>
            </a:p>
          </p:txBody>
        </p:sp>
        <p:sp>
          <p:nvSpPr>
            <p:cNvPr id="263" name="Line 263"/>
            <p:cNvSpPr/>
            <p:nvPr/>
          </p:nvSpPr>
          <p:spPr>
            <a:xfrm>
              <a:off x="4876800" y="5695950"/>
              <a:ext cx="152400" cy="9525"/>
            </a:xfrm>
            <a:custGeom>
              <a:avLst/>
              <a:gdLst/>
              <a:ahLst/>
              <a:cxnLst/>
              <a:rect l="l" t="t" r="r" b="b"/>
              <a:pathLst>
                <a:path w="152400" h="9525">
                  <a:moveTo>
                    <a:pt x="0" y="0"/>
                  </a:moveTo>
                  <a:lnTo>
                    <a:pt x="152400" y="0"/>
                  </a:lnTo>
                </a:path>
              </a:pathLst>
            </a:custGeom>
            <a:noFill/>
            <a:ln w="9525">
              <a:solidFill>
                <a:srgbClr val="6E6E6E"/>
              </a:solidFill>
              <a:prstDash val="sysDot"/>
            </a:ln>
          </p:spPr>
        </p:sp>
        <p:sp>
          <p:nvSpPr>
            <p:cNvPr id="264" name="TextBox 264"/>
            <p:cNvSpPr txBox="1"/>
            <p:nvPr/>
          </p:nvSpPr>
          <p:spPr>
            <a:xfrm>
              <a:off x="5070729" y="5594985"/>
              <a:ext cx="9006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000000"/>
                  </a:solidFill>
                  <a:latin typeface="Segoe UI"/>
                  <a:ea typeface="Segoe UI"/>
                  <a:cs typeface="Segoe UI"/>
                </a:rPr>
                <a:t>recurrence</a:t>
              </a:r>
            </a:p>
          </p:txBody>
        </p:sp>
        <p:sp>
          <p:nvSpPr>
            <p:cNvPr id="265" name="Rectangle 265"/>
            <p:cNvSpPr/>
            <p:nvPr/>
          </p:nvSpPr>
          <p:spPr>
            <a:xfrm>
              <a:off x="5715000" y="5667375"/>
              <a:ext cx="57150" cy="57150"/>
            </a:xfrm>
            <a:prstGeom prst="rect">
              <a:avLst/>
            </a:prstGeom>
            <a:solidFill>
              <a:srgbClr val="F2F4F7"/>
            </a:solidFill>
            <a:ln w="7620">
              <a:solidFill>
                <a:srgbClr val="9AA4B0"/>
              </a:solidFill>
            </a:ln>
          </p:spPr>
        </p:sp>
        <p:sp>
          <p:nvSpPr>
            <p:cNvPr id="266" name="TextBox 266"/>
            <p:cNvSpPr txBox="1"/>
            <p:nvPr/>
          </p:nvSpPr>
          <p:spPr>
            <a:xfrm>
              <a:off x="5813679" y="5594985"/>
              <a:ext cx="10244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000000"/>
                  </a:solidFill>
                  <a:latin typeface="Segoe UI"/>
                  <a:ea typeface="Segoe UI"/>
                  <a:cs typeface="Segoe UI"/>
                </a:rPr>
                <a:t>LIF (panel a)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2026-07-11T17:10:22Z</dcterms:created>
  <dcterms:modified xsi:type="dcterms:W3CDTF">2026-07-11T17:10:22Z</dcterms:modified>
  <cp:category/>
  <cp:contentStatus/>
</cp:coreProperties>
</file>